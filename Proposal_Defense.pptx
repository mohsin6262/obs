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9" r:id="rId3"/>
    <p:sldId id="288" r:id="rId4"/>
    <p:sldId id="278" r:id="rId5"/>
    <p:sldId id="259" r:id="rId6"/>
    <p:sldId id="257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60" r:id="rId15"/>
    <p:sldId id="261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2" autoAdjust="0"/>
    <p:restoredTop sz="93233" autoAdjust="0"/>
  </p:normalViewPr>
  <p:slideViewPr>
    <p:cSldViewPr>
      <p:cViewPr varScale="1">
        <p:scale>
          <a:sx n="65" d="100"/>
          <a:sy n="65" d="100"/>
        </p:scale>
        <p:origin x="126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12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B6552-F664-4F94-B3B0-9BA08B6A510B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Research group:Internet Traffic Study &amp; Analysis group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C29B0-771C-447B-92A7-0BFF648FF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372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CC239-90DF-4DBD-BB36-7B5B2EF984C0}" type="datetimeFigureOut">
              <a:rPr lang="en-US" smtClean="0"/>
              <a:t>10/2/2025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Research group:Internet Traffic Study &amp; Analysis group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B62E03-530C-4532-8B16-DDF9E8DC6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1841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664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571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20CB15-896C-3038-8BD1-403114394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04B6D12-9D6D-6144-BF8C-EDF609C78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3AA301D-0CA4-C9C9-9B44-9A8C76BC7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544142C-9CE7-68D1-188A-3463FCD2EC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69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88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972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1E33DF-EA04-BF80-0C00-03805C302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D41DA58-5F38-6FCC-9A24-1864E248A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2CEC476-991D-2F61-ECDF-515440078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9E3E69-0A56-DB2B-1532-6122AB939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2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B45B9D5-36C4-FF17-43AD-EBA5B6548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8763916-E8B4-9A99-020A-938390535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55F5277-FC1C-6455-748E-96B289EE8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4DA8350-5190-4BC1-3952-A325C844C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515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13E275-02B8-5DBC-10AA-849CBE88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0E7DF8B4-B8A7-00B4-EE08-77682E014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90C45D5-9B77-A34F-2689-E20D038EC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3657B91-2CB0-D993-6985-0568D3647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64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2964BC0-BADA-9626-64D9-3411CF5E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D3454F4-20C0-9D7B-31AF-747A2749C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58880E7-796D-93EA-A38B-0EBF79D5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9E84CD0-BD16-787C-6316-8CE8307EB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845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608F9C-4199-E0FD-F32C-5DD9DF42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A00FB23-058A-A7B9-9D23-5C3A44E68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BA4AF76-34C7-70AF-23F8-E75E98509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F9890E-3A00-9CE8-B3CF-017CD58F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511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7355AC-E6F3-8CAB-E429-FBC0E50A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FB049DC-17C9-13ED-9D02-268AEA3C3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8BE6E3C-A3DA-1679-2913-1C8930CCA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B865376-8A7C-3356-9F1E-6A1359D47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14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09434CC-3EDE-1A5A-87EE-E43614FC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CC4B222-5822-4047-6D0F-131195AF2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C1809BE-1983-EE19-B7E6-E8F6CC85A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3BD895-3A7C-FBB0-9E2F-1E5833DB5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698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05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2E03-530C-4532-8B16-DDF9E8DC65D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849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F01F-5EF7-4A74-A9AE-3D7FC0E7DD9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2B971-507A-4EB1-A381-9E97A19C282F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972D4-9858-46ED-9547-03E2169B656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0B0FD8D3-1E9A-474F-BA36-E595CFF1BBC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558A9-A906-44F1-9986-22DFE0546A2F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C03F-03F5-43E2-B6DB-2E7CEF4242D8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6E70-9F1B-4D46-B1B4-E131AA0AF1A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93B1-E9FF-45DC-A469-AE13F894C92E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4CDA1BDD-E6ED-4EE5-951A-D9DE115B502D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D017-A338-4811-9E9C-5033B1907D6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D35A-A17C-4A19-B098-D28A0AA508F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D81CC71-DD3F-4694-AE60-7B2D815F45E8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22C1797-F1E4-486D-A4D0-E14E1366834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49" r:id="rId1"/>
    <p:sldLayoutId id="2147484550" r:id="rId2"/>
    <p:sldLayoutId id="2147484551" r:id="rId3"/>
    <p:sldLayoutId id="2147484552" r:id="rId4"/>
    <p:sldLayoutId id="2147484553" r:id="rId5"/>
    <p:sldLayoutId id="2147484554" r:id="rId6"/>
    <p:sldLayoutId id="2147484555" r:id="rId7"/>
    <p:sldLayoutId id="2147484556" r:id="rId8"/>
    <p:sldLayoutId id="2147484557" r:id="rId9"/>
    <p:sldLayoutId id="2147484558" r:id="rId10"/>
    <p:sldLayoutId id="21474845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tx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297284" y="6405895"/>
            <a:ext cx="3713852" cy="261609"/>
          </a:xfrm>
        </p:spPr>
        <p:txBody>
          <a:bodyPr/>
          <a:lstStyle/>
          <a:p>
            <a:r>
              <a:rPr lang="en-US" dirty="0"/>
              <a:t>Internet Traffic Study &amp; Analysis Research Group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8" y="685800"/>
            <a:ext cx="7772400" cy="1257107"/>
          </a:xfrm>
        </p:spPr>
        <p:txBody>
          <a:bodyPr>
            <a:noAutofit/>
          </a:bodyPr>
          <a:lstStyle/>
          <a:p>
            <a:r>
              <a:rPr lang="en-US" sz="2800" dirty="0"/>
              <a:t>Design and Analysis of An </a:t>
            </a:r>
            <a:r>
              <a:rPr lang="en-US" sz="2800" dirty="0" err="1"/>
              <a:t>OMNeT</a:t>
            </a:r>
            <a:r>
              <a:rPr lang="en-US" sz="2800" dirty="0"/>
              <a:t>++ based Simulation Framework for Optical Burst Switching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7543800" y="6395727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 Oct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1538" y="3217219"/>
            <a:ext cx="628808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Members:        </a:t>
            </a:r>
          </a:p>
          <a:p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Mohsin Sajjad    22PWCSE2149</a:t>
            </a:r>
          </a:p>
          <a:p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Sawaira Haq   22PWCSE2172</a:t>
            </a:r>
          </a:p>
          <a:p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Sana Zahir   22PWCSE2151</a:t>
            </a:r>
          </a:p>
          <a:p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Muhammad Shafique Qureshi  22PWCSE2189</a:t>
            </a:r>
          </a:p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	</a:t>
            </a:r>
          </a:p>
          <a:p>
            <a:pPr algn="ct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dirty="0"/>
              <a:t>Supervisor: </a:t>
            </a:r>
            <a:r>
              <a:rPr lang="en-US" b="1" dirty="0"/>
              <a:t>ENGR. IHSAN UL HAQ</a:t>
            </a:r>
            <a:endParaRPr lang="en-US" dirty="0"/>
          </a:p>
          <a:p>
            <a:pPr algn="ctr"/>
            <a:r>
              <a:rPr lang="en-US" b="1" dirty="0"/>
              <a:t>Department of Computer Systems Engineering</a:t>
            </a:r>
          </a:p>
          <a:p>
            <a:pPr algn="ctr"/>
            <a:r>
              <a:rPr lang="en-US" b="1" dirty="0"/>
              <a:t>University of Engineering &amp; Technology Peshawar</a:t>
            </a:r>
          </a:p>
        </p:txBody>
      </p:sp>
      <p:pic>
        <p:nvPicPr>
          <p:cNvPr id="15" name="Picture 14" descr="A blue and black circle with black text&#10;&#10;Description automatically generated">
            <a:extLst>
              <a:ext uri="{FF2B5EF4-FFF2-40B4-BE49-F238E27FC236}">
                <a16:creationId xmlns:a16="http://schemas.microsoft.com/office/drawing/2014/main" xmlns="" id="{1271CE55-7C82-8C86-584A-44E719979E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402" y="2588666"/>
            <a:ext cx="1367193" cy="125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5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7916"/>
            <a:ext cx="8534400" cy="581621"/>
          </a:xfrm>
        </p:spPr>
        <p:txBody>
          <a:bodyPr>
            <a:noAutofit/>
          </a:bodyPr>
          <a:lstStyle/>
          <a:p>
            <a:r>
              <a:rPr lang="en-US" dirty="0"/>
              <a:t>Presentation Outline</a:t>
            </a:r>
            <a:endParaRPr lang="en-US" b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6200"/>
          </a:xfrm>
        </p:spPr>
        <p:txBody>
          <a:bodyPr>
            <a:no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0040" y="1828800"/>
            <a:ext cx="8503920" cy="427024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buNone/>
            </a:pPr>
            <a:r>
              <a:rPr lang="en-US" sz="2400" dirty="0"/>
              <a:t>1. Introduction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sz="2400" dirty="0"/>
              <a:t>2. Problem Statement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sz="2400" dirty="0"/>
              <a:t>3. Objectives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sz="2400" dirty="0"/>
              <a:t>4. Introduction of </a:t>
            </a:r>
            <a:r>
              <a:rPr lang="en-US" sz="2400" dirty="0" err="1"/>
              <a:t>omnet</a:t>
            </a:r>
            <a:r>
              <a:rPr lang="en-US" sz="2400" dirty="0"/>
              <a:t>++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sz="2400" dirty="0"/>
              <a:t>5. Linkage of FYP with UN SDGs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sz="2400" dirty="0"/>
              <a:t>6. Mapping and Justification of FYP with 5 Courses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sz="2400" dirty="0"/>
              <a:t>7. Moral and Ethical Considerations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sz="2400" dirty="0"/>
              <a:t>8. Societal Impact</a:t>
            </a:r>
          </a:p>
          <a:p>
            <a:pPr marL="514350" indent="-514350">
              <a:lnSpc>
                <a:spcPct val="110000"/>
              </a:lnSpc>
              <a:buNone/>
            </a:pPr>
            <a:r>
              <a:rPr lang="en-US" sz="2400" dirty="0"/>
              <a:t>9.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102392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D4E4E3-BEFB-573B-4E34-EC3EE2C76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383A7D-B274-50D2-E024-3D8D5E1B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534400" cy="581621"/>
          </a:xfrm>
        </p:spPr>
        <p:txBody>
          <a:bodyPr>
            <a:noAutofit/>
          </a:bodyPr>
          <a:lstStyle/>
          <a:p>
            <a:r>
              <a:rPr lang="en-US" dirty="0"/>
              <a:t>Introduction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4DFB38C5-25D9-2215-0A21-D97231015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7929CCF-EC0D-0731-6C25-A084A7CB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6200"/>
          </a:xfrm>
        </p:spPr>
        <p:txBody>
          <a:bodyPr>
            <a:no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“Can today’s internet keep up with tomorrow’s needs?”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Internet demand is growing fast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Current optical methods have limits:</a:t>
            </a:r>
          </a:p>
          <a:p>
            <a:pPr marL="0" indent="0">
              <a:buNone/>
            </a:pPr>
            <a:r>
              <a:rPr lang="en-US" sz="2400" dirty="0"/>
              <a:t>             OCS: Reliable but wastes bandwidth</a:t>
            </a:r>
          </a:p>
          <a:p>
            <a:pPr marL="0" indent="0">
              <a:buNone/>
            </a:pPr>
            <a:r>
              <a:rPr lang="en-US" sz="2400" dirty="0"/>
              <a:t>	  OPS: due to lack of optical processor it is not implemented</a:t>
            </a:r>
          </a:p>
          <a:p>
            <a:pPr marL="0" indent="0">
              <a:buNone/>
            </a:pPr>
            <a:r>
              <a:rPr lang="en-US" sz="2400" b="1" dirty="0"/>
              <a:t>Key question: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How to make networks fast and efficient?</a:t>
            </a:r>
          </a:p>
        </p:txBody>
      </p:sp>
    </p:spTree>
    <p:extLst>
      <p:ext uri="{BB962C8B-B14F-4D97-AF65-F5344CB8AC3E}">
        <p14:creationId xmlns:p14="http://schemas.microsoft.com/office/powerpoint/2010/main" val="249921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6A3B090-446E-5474-AA34-76950C3EC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3FABA4-C56E-6D87-B540-6AE1F27B2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641872"/>
          </a:xfrm>
        </p:spPr>
        <p:txBody>
          <a:bodyPr>
            <a:normAutofit/>
          </a:bodyPr>
          <a:lstStyle/>
          <a:p>
            <a:r>
              <a:rPr lang="en-US" dirty="0"/>
              <a:t>Optical Burst Switching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907C207C-925C-5C2A-509F-B5A8CE04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8470173-1BE2-6526-DFFE-A142FF82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1120"/>
          </a:xfrm>
        </p:spPr>
        <p:txBody>
          <a:bodyPr>
            <a:no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 is Optical Burst Switching (OBS)?</a:t>
            </a:r>
            <a:endParaRPr lang="en-US" sz="1100" dirty="0"/>
          </a:p>
          <a:p>
            <a:pPr lvl="0"/>
            <a:r>
              <a:rPr lang="en-US" dirty="0"/>
              <a:t>Optical high speed switching networks</a:t>
            </a:r>
          </a:p>
          <a:p>
            <a:pPr lvl="0"/>
            <a:r>
              <a:rPr lang="en-US" dirty="0"/>
              <a:t>Able to efficiently utilize extremely high capacity links</a:t>
            </a:r>
          </a:p>
          <a:p>
            <a:pPr lvl="0"/>
            <a:r>
              <a:rPr lang="en-US" dirty="0"/>
              <a:t>Groups many small packets into a larger “burst” before sending</a:t>
            </a:r>
            <a:endParaRPr lang="en-US" sz="1600" dirty="0"/>
          </a:p>
          <a:p>
            <a:pPr lvl="0"/>
            <a:r>
              <a:rPr lang="en-US" dirty="0"/>
              <a:t>Control packet goes first to set up the path, then the burst follows</a:t>
            </a:r>
            <a:endParaRPr lang="en-US" sz="1600" dirty="0"/>
          </a:p>
          <a:p>
            <a:pPr lvl="0"/>
            <a:r>
              <a:rPr lang="en-US" dirty="0"/>
              <a:t>At intermediate nodes:</a:t>
            </a:r>
            <a:endParaRPr lang="en-US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Bursts are switched directly (no need for O/E conversion)</a:t>
            </a:r>
            <a:endParaRPr lang="en-US" sz="1400" dirty="0"/>
          </a:p>
          <a:p>
            <a:pPr lvl="0"/>
            <a:r>
              <a:rPr lang="en-US" dirty="0"/>
              <a:t>At the destination:</a:t>
            </a:r>
            <a:endParaRPr lang="en-US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Bursts are split back into packets and delivered </a:t>
            </a:r>
          </a:p>
        </p:txBody>
      </p:sp>
    </p:spTree>
    <p:extLst>
      <p:ext uri="{BB962C8B-B14F-4D97-AF65-F5344CB8AC3E}">
        <p14:creationId xmlns:p14="http://schemas.microsoft.com/office/powerpoint/2010/main" val="104836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57396"/>
            <a:ext cx="8534400" cy="606552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US" b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52399"/>
          </a:xfrm>
        </p:spPr>
        <p:txBody>
          <a:bodyPr>
            <a:no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sz="2400" dirty="0"/>
              <a:t>Optical Burst Switching (OBS) is still in the research domain, and currently, there is no experimental test bed available. To work on this technology, a test bed is essential, which can be provided in the form of a software-based simulation framework. Previous research was carried out by the </a:t>
            </a:r>
            <a:r>
              <a:rPr 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 University of Navarre, Spain, and the University of Algarve, Portugal,</a:t>
            </a:r>
            <a:r>
              <a:rPr lang="en-US" sz="2400" dirty="0"/>
              <a:t> where an OBS network model for OMNeT++ was developed and evaluated. However, that work was implemented on older versions of OMNeT++, which are now obsolete and incompatible with modern operating systems, thus further research/evaluation seems difficult. Therefore, our work focuses on using the latest stable release, OMNeT++ 6.2, to develop an updated simulation environment for OBS.</a:t>
            </a:r>
          </a:p>
        </p:txBody>
      </p:sp>
    </p:spTree>
    <p:extLst>
      <p:ext uri="{BB962C8B-B14F-4D97-AF65-F5344CB8AC3E}">
        <p14:creationId xmlns:p14="http://schemas.microsoft.com/office/powerpoint/2010/main" val="373343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384048"/>
            <a:ext cx="8534400" cy="606552"/>
          </a:xfrm>
        </p:spPr>
        <p:txBody>
          <a:bodyPr/>
          <a:lstStyle/>
          <a:p>
            <a:r>
              <a:rPr lang="en-US" dirty="0"/>
              <a:t>Objectives</a:t>
            </a:r>
            <a:endParaRPr lang="en-US" b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6200"/>
          </a:xfrm>
        </p:spPr>
        <p:txBody>
          <a:bodyPr>
            <a:no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/>
              <a:t>To study the limitations of existing optical switching methods (OCS and OPS).</a:t>
            </a:r>
          </a:p>
          <a:p>
            <a:pPr lvl="0"/>
            <a:r>
              <a:rPr lang="en-US" sz="2400" dirty="0"/>
              <a:t>To design and implement a framework for Optical Burst Switching (OBS) using </a:t>
            </a:r>
            <a:r>
              <a:rPr lang="en-US" sz="2400" dirty="0" err="1"/>
              <a:t>OMNeT</a:t>
            </a:r>
            <a:r>
              <a:rPr lang="en-US" sz="2400" dirty="0"/>
              <a:t>++ 6.2 frame work.</a:t>
            </a:r>
          </a:p>
          <a:p>
            <a:r>
              <a:rPr lang="en-US" sz="2400" dirty="0"/>
              <a:t>To analyze the results obtained from the simulation framework.</a:t>
            </a:r>
          </a:p>
        </p:txBody>
      </p:sp>
    </p:spTree>
    <p:extLst>
      <p:ext uri="{BB962C8B-B14F-4D97-AF65-F5344CB8AC3E}">
        <p14:creationId xmlns:p14="http://schemas.microsoft.com/office/powerpoint/2010/main" val="167220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A85750E-6BDC-B281-4A76-784601CB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D4269D-4449-AFC7-C403-6CE7230C4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84048"/>
            <a:ext cx="8534400" cy="606552"/>
          </a:xfrm>
        </p:spPr>
        <p:txBody>
          <a:bodyPr/>
          <a:lstStyle/>
          <a:p>
            <a:r>
              <a:rPr lang="en-US" dirty="0"/>
              <a:t>OMNET++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8DCADF1E-A1A4-6DD5-753E-DE9AB0F1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80C3CAA-33AD-3D5C-CF19-6DBF0ED0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6200"/>
          </a:xfrm>
        </p:spPr>
        <p:txBody>
          <a:bodyPr>
            <a:no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AFA3937-E546-8F74-D752-A228B162E8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sz="3200" b="1" dirty="0"/>
              <a:t>INTRODUCTION: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2800" dirty="0" err="1"/>
              <a:t>OMNeT</a:t>
            </a:r>
            <a:r>
              <a:rPr lang="en-US" sz="2800" dirty="0"/>
              <a:t>++ is a simulation framework used for modeling and simulating systems including (computer networks ).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US" sz="2800" dirty="0"/>
              <a:t>It is modular meaning you build networks using modules/sub module and connect them.</a:t>
            </a:r>
          </a:p>
        </p:txBody>
      </p:sp>
    </p:spTree>
    <p:extLst>
      <p:ext uri="{BB962C8B-B14F-4D97-AF65-F5344CB8AC3E}">
        <p14:creationId xmlns:p14="http://schemas.microsoft.com/office/powerpoint/2010/main" val="424557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CC02DD-C49F-A2AF-7D1A-DDC0B73FA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9ECDFA-FE46-DFFC-A2E8-FCD2C1AD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84048"/>
            <a:ext cx="8534400" cy="606552"/>
          </a:xfrm>
        </p:spPr>
        <p:txBody>
          <a:bodyPr/>
          <a:lstStyle/>
          <a:p>
            <a:r>
              <a:rPr lang="en-US" dirty="0"/>
              <a:t>Core Files for Building a Network in </a:t>
            </a:r>
            <a:r>
              <a:rPr lang="en-US" dirty="0" err="1"/>
              <a:t>OMNeT</a:t>
            </a:r>
            <a:r>
              <a:rPr lang="en-US" dirty="0"/>
              <a:t>++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0243E5A7-9086-B18F-20FB-6F8D1DA76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654C7A3-65A9-6CCE-3418-D7FC089B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6200"/>
          </a:xfrm>
        </p:spPr>
        <p:txBody>
          <a:bodyPr>
            <a:no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348CA9DA-FF55-20C8-D279-5F18804B86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440800"/>
            <a:ext cx="8842248" cy="4883800"/>
          </a:xfrm>
        </p:spPr>
        <p:txBody>
          <a:bodyPr>
            <a:normAutofit/>
          </a:bodyPr>
          <a:lstStyle/>
          <a:p>
            <a:pPr lvl="0"/>
            <a:r>
              <a:rPr lang="en-US" sz="3600" b="1" dirty="0"/>
              <a:t>.</a:t>
            </a:r>
            <a:r>
              <a:rPr lang="en-US" sz="3600" b="1" dirty="0" err="1"/>
              <a:t>ned</a:t>
            </a:r>
            <a:r>
              <a:rPr lang="en-US" sz="3600" b="1" dirty="0"/>
              <a:t> file (Network Description)</a:t>
            </a:r>
          </a:p>
          <a:p>
            <a:pPr marL="0" lvl="0" indent="0">
              <a:buNone/>
            </a:pPr>
            <a:r>
              <a:rPr lang="en-US" sz="2400" dirty="0"/>
              <a:t>Defines</a:t>
            </a:r>
            <a:r>
              <a:rPr lang="en-US" sz="3200" b="1" dirty="0"/>
              <a:t> </a:t>
            </a:r>
            <a:r>
              <a:rPr lang="en-US" sz="2400" dirty="0"/>
              <a:t>the topology of the network. Tells what modules exist. Example: Tic and Toc modules connected to each other.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72" y="3264408"/>
            <a:ext cx="4851344" cy="300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0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B8F356-6085-151A-6F22-85C42E27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8A4FF4-60D5-B237-451F-48A4E85CB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84048"/>
            <a:ext cx="8534400" cy="606552"/>
          </a:xfrm>
        </p:spPr>
        <p:txBody>
          <a:bodyPr/>
          <a:lstStyle/>
          <a:p>
            <a:r>
              <a:rPr lang="en-US" dirty="0"/>
              <a:t>Core Files for Building a Network in </a:t>
            </a:r>
            <a:r>
              <a:rPr lang="en-US" dirty="0" err="1"/>
              <a:t>OMNeT</a:t>
            </a:r>
            <a:r>
              <a:rPr lang="en-US" dirty="0"/>
              <a:t>++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361E393-A17F-F611-BF95-8E395F6B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2B7AA69-96D1-87A1-6C11-7A929468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6200"/>
          </a:xfrm>
        </p:spPr>
        <p:txBody>
          <a:bodyPr>
            <a:no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6270281-3347-D7EA-13F1-A11A23ACACB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83800"/>
          </a:xfrm>
        </p:spPr>
        <p:txBody>
          <a:bodyPr>
            <a:normAutofit/>
          </a:bodyPr>
          <a:lstStyle/>
          <a:p>
            <a:pPr lvl="0"/>
            <a:r>
              <a:rPr lang="en-US" sz="3200" b="1" dirty="0"/>
              <a:t>.cc file (C++ Source Code)</a:t>
            </a:r>
          </a:p>
          <a:p>
            <a:pPr marL="0" lvl="0" indent="0">
              <a:buNone/>
            </a:pPr>
            <a:r>
              <a:rPr lang="en-US" sz="2400" dirty="0"/>
              <a:t>Defines the behavior of modules. Contains logic like sending, receiving messages etc.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82615"/>
            <a:ext cx="5375085" cy="351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0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EDA077-B08E-9840-5AA5-8B6E85E9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11BCE2-3BA9-BD05-7B23-79D1F21E8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84048"/>
            <a:ext cx="8534400" cy="606552"/>
          </a:xfrm>
        </p:spPr>
        <p:txBody>
          <a:bodyPr/>
          <a:lstStyle/>
          <a:p>
            <a:r>
              <a:rPr lang="en-US" dirty="0"/>
              <a:t>Core Files for Building a Network in </a:t>
            </a:r>
            <a:r>
              <a:rPr lang="en-US" dirty="0" err="1"/>
              <a:t>OMNeT</a:t>
            </a:r>
            <a:r>
              <a:rPr lang="en-US" dirty="0"/>
              <a:t>++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67A0BB36-391E-5280-659D-8C92BB20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E396908-F7BE-AE5C-AFD6-6B1D76B4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6200"/>
          </a:xfrm>
        </p:spPr>
        <p:txBody>
          <a:bodyPr>
            <a:no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200" b="1" dirty="0"/>
              <a:t>.</a:t>
            </a:r>
            <a:r>
              <a:rPr lang="en-US" sz="3200" b="1" dirty="0" err="1"/>
              <a:t>ini</a:t>
            </a:r>
            <a:r>
              <a:rPr lang="en-US" sz="3200" b="1" dirty="0"/>
              <a:t> file (Configuration)</a:t>
            </a:r>
          </a:p>
          <a:p>
            <a:pPr marL="0" lvl="0" indent="0">
              <a:buNone/>
            </a:pPr>
            <a:r>
              <a:rPr lang="en-US" sz="2400" dirty="0"/>
              <a:t>Defines the simulation setup. Tells which network to run, simulation time, parameters.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177033"/>
            <a:ext cx="5644069" cy="29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4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E43DD62-4C1B-C58B-AB0D-666C122A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4742A7-13F4-E256-5CE8-295B988A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32648"/>
            <a:ext cx="8534400" cy="606552"/>
          </a:xfrm>
        </p:spPr>
        <p:txBody>
          <a:bodyPr>
            <a:normAutofit fontScale="90000"/>
          </a:bodyPr>
          <a:lstStyle/>
          <a:p>
            <a:r>
              <a:rPr lang="en-US" dirty="0"/>
              <a:t>Linkage of FYP with UN SDGs</a:t>
            </a:r>
            <a:br>
              <a:rPr lang="en-US" dirty="0"/>
            </a:b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AA341CB4-AF1D-702D-F66F-84C26760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2BB3AAE-ECBE-6D3B-9361-0EC328838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6200"/>
          </a:xfrm>
        </p:spPr>
        <p:txBody>
          <a:bodyPr>
            <a:no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Selected Goal: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SDG 9 – Industry, Innovation and Infrastructure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i="1" dirty="0"/>
              <a:t>“Build resilient infrastructure, promote sustainable industrialization, and foster innovation.”</a:t>
            </a:r>
          </a:p>
          <a:p>
            <a:pPr marL="0" indent="0">
              <a:buNone/>
            </a:pPr>
            <a:r>
              <a:rPr lang="en-US" sz="2400" b="1" dirty="0"/>
              <a:t>Relevance to Project: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 framework contribute  to innovation in future network technology.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By analyzing high-speed optical networks, it helps enhance technological capacity  for future demands.</a:t>
            </a:r>
          </a:p>
        </p:txBody>
      </p:sp>
    </p:spTree>
    <p:extLst>
      <p:ext uri="{BB962C8B-B14F-4D97-AF65-F5344CB8AC3E}">
        <p14:creationId xmlns:p14="http://schemas.microsoft.com/office/powerpoint/2010/main" val="22593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BD58B57-E7F8-C6E9-63A1-828C893C8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C3D6E-5B49-2FB6-FCAA-F0AA72990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84048"/>
            <a:ext cx="8534400" cy="606552"/>
          </a:xfrm>
        </p:spPr>
        <p:txBody>
          <a:bodyPr/>
          <a:lstStyle/>
          <a:p>
            <a:r>
              <a:rPr lang="en-US" dirty="0"/>
              <a:t>Mapping of FYP with 5 DCSE Courses 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28BF11-93F9-34A1-5DF2-F25465C3E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E9FF3EF-3466-1A4B-F30D-5E09F71C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6200"/>
          </a:xfrm>
        </p:spPr>
        <p:txBody>
          <a:bodyPr>
            <a:noAutofit/>
          </a:bodyPr>
          <a:lstStyle/>
          <a:p>
            <a:r>
              <a:rPr lang="en-US" dirty="0"/>
              <a:t>12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301625" y="1676400"/>
            <a:ext cx="8504238" cy="397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5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924E4C1-A7CF-1D09-D90B-397129A3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B7855E-854F-3640-CC9A-E317F62F8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84048"/>
            <a:ext cx="8534400" cy="606552"/>
          </a:xfrm>
        </p:spPr>
        <p:txBody>
          <a:bodyPr/>
          <a:lstStyle/>
          <a:p>
            <a:r>
              <a:rPr lang="en-US" dirty="0"/>
              <a:t>Moral and Ethical Considerations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A4A07F31-3BCB-6012-3ABF-DD8FBE80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1A5309D-C55F-74DC-19C9-427BDC97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96200"/>
          </a:xfrm>
        </p:spPr>
        <p:txBody>
          <a:bodyPr>
            <a:no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/>
              <a:t>The project is based on a simulation framework.</a:t>
            </a:r>
            <a:endParaRPr lang="en-US" sz="1400" dirty="0"/>
          </a:p>
          <a:p>
            <a:pPr lvl="0"/>
            <a:r>
              <a:rPr lang="en-US" sz="2400" dirty="0"/>
              <a:t>Focus is on improving communication technology in a responsible way.</a:t>
            </a:r>
            <a:endParaRPr lang="en-US" sz="1400" dirty="0"/>
          </a:p>
          <a:p>
            <a:pPr lvl="0"/>
            <a:r>
              <a:rPr lang="en-US" sz="2400" dirty="0"/>
              <a:t>Ethical principles followed:</a:t>
            </a:r>
            <a:endParaRPr lang="en-US" sz="1400" dirty="0"/>
          </a:p>
          <a:p>
            <a:pPr lvl="1"/>
            <a:r>
              <a:rPr lang="en-US" sz="2000" b="1" dirty="0"/>
              <a:t>Transparency:</a:t>
            </a:r>
            <a:r>
              <a:rPr lang="en-US" sz="2000" dirty="0"/>
              <a:t> Clear reporting of methods and results.</a:t>
            </a:r>
            <a:endParaRPr lang="en-US" sz="1200" dirty="0"/>
          </a:p>
          <a:p>
            <a:pPr lvl="1"/>
            <a:r>
              <a:rPr lang="en-US" sz="2000" b="1" dirty="0"/>
              <a:t>Integrity:</a:t>
            </a:r>
            <a:r>
              <a:rPr lang="en-US" sz="2000" dirty="0"/>
              <a:t> Ensuring the honesty in analysis.</a:t>
            </a:r>
            <a:endParaRPr lang="en-US" sz="1200" dirty="0"/>
          </a:p>
          <a:p>
            <a:pPr lvl="1"/>
            <a:r>
              <a:rPr lang="en-US" sz="2000" b="1" dirty="0"/>
              <a:t>Responsible Innovation:</a:t>
            </a:r>
            <a:r>
              <a:rPr lang="en-US" sz="2000" dirty="0"/>
              <a:t> Developing solutions that benefit society without causing harm.</a:t>
            </a:r>
            <a:endParaRPr lang="en-US" sz="1200" dirty="0"/>
          </a:p>
          <a:p>
            <a:pPr lvl="0"/>
            <a:r>
              <a:rPr lang="en-US" sz="2400" dirty="0"/>
              <a:t>Overall, the project supports  safe and sustainable technological progress.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1729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08927"/>
            <a:ext cx="8534400" cy="662221"/>
          </a:xfrm>
        </p:spPr>
        <p:txBody>
          <a:bodyPr>
            <a:normAutofit fontScale="90000"/>
          </a:bodyPr>
          <a:lstStyle/>
          <a:p>
            <a:r>
              <a:rPr lang="en-US" dirty="0"/>
              <a:t>Societal Impact</a:t>
            </a:r>
            <a:br>
              <a:rPr lang="en-US" dirty="0"/>
            </a:br>
            <a:endParaRPr lang="en-US" b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43400" y="990600"/>
            <a:ext cx="457200" cy="499438"/>
          </a:xfrm>
        </p:spPr>
        <p:txBody>
          <a:bodyPr>
            <a:norm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Who benefits?</a:t>
            </a:r>
            <a:br>
              <a:rPr lang="en-US" sz="2400" dirty="0"/>
            </a:br>
            <a:r>
              <a:rPr lang="en-US" sz="2400" dirty="0"/>
              <a:t>Researchers, telecom industry, and internet users.</a:t>
            </a:r>
          </a:p>
          <a:p>
            <a:r>
              <a:rPr lang="en-US" sz="2400" dirty="0"/>
              <a:t>Broader impact</a:t>
            </a:r>
            <a:r>
              <a:rPr lang="en-US" sz="2400" b="1" dirty="0"/>
              <a:t>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Faster and more reliable networks → stronger digital society.</a:t>
            </a:r>
          </a:p>
          <a:p>
            <a:r>
              <a:rPr lang="en-US" sz="2400" dirty="0"/>
              <a:t>Real-World Application:</a:t>
            </a:r>
            <a:br>
              <a:rPr lang="en-US" sz="2400" dirty="0"/>
            </a:br>
            <a:r>
              <a:rPr lang="en-US" sz="2400" dirty="0"/>
              <a:t>Can be developed as a simulation tool for research and industry.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2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512" y="81392"/>
            <a:ext cx="8534400" cy="758952"/>
          </a:xfrm>
        </p:spPr>
        <p:txBody>
          <a:bodyPr>
            <a:normAutofit/>
          </a:bodyPr>
          <a:lstStyle/>
          <a:p>
            <a:r>
              <a:rPr lang="en-US" dirty="0"/>
              <a:t>Expected Outcome</a:t>
            </a:r>
            <a:endParaRPr lang="en-US" b="1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1143000"/>
            <a:ext cx="457200" cy="172297"/>
          </a:xfrm>
        </p:spPr>
        <p:txBody>
          <a:bodyPr>
            <a:no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" name="AutoShape 2" descr="a research project titling process cycle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b="1" dirty="0"/>
              <a:t>End Product: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A working simulation framework for Optical Burst Switching (OBS) built on </a:t>
            </a:r>
            <a:r>
              <a:rPr lang="en-US" sz="2400" dirty="0" err="1"/>
              <a:t>OMNeT</a:t>
            </a:r>
            <a:r>
              <a:rPr lang="en-US" sz="2400" dirty="0"/>
              <a:t>++ 6.2.</a:t>
            </a:r>
            <a:endParaRPr lang="en-US" sz="1400" dirty="0"/>
          </a:p>
          <a:p>
            <a:pPr lvl="0"/>
            <a:r>
              <a:rPr lang="en-US" sz="2400" b="1" dirty="0"/>
              <a:t>Deliverables:</a:t>
            </a:r>
            <a:endParaRPr lang="en-US" sz="1400" dirty="0"/>
          </a:p>
          <a:p>
            <a:pPr lvl="1"/>
            <a:r>
              <a:rPr lang="en-US" sz="2000" dirty="0"/>
              <a:t>Software tool to test and analyze OBS performance.</a:t>
            </a:r>
            <a:endParaRPr lang="en-US" sz="1200" dirty="0"/>
          </a:p>
          <a:p>
            <a:pPr lvl="0"/>
            <a:r>
              <a:rPr lang="en-US" sz="2400" b="1" dirty="0"/>
              <a:t>Impact: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Provides a practical platform for researchers and industry to explore and improve future high-speed network technologies.</a:t>
            </a:r>
          </a:p>
        </p:txBody>
      </p:sp>
    </p:spTree>
    <p:extLst>
      <p:ext uri="{BB962C8B-B14F-4D97-AF65-F5344CB8AC3E}">
        <p14:creationId xmlns:p14="http://schemas.microsoft.com/office/powerpoint/2010/main" val="149612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A33759D-E405-2A67-BB2C-AD548543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Internet Traffic Study &amp; Analysis Research Group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704B391-1857-BEFC-1EF7-E1EF52DA40F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20040" y="2895600"/>
            <a:ext cx="8503920" cy="1066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9239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ustom 4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6294"/>
      </a:accent1>
      <a:accent2>
        <a:srgbClr val="1C6294"/>
      </a:accent2>
      <a:accent3>
        <a:srgbClr val="76CDEE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4627</TotalTime>
  <Words>736</Words>
  <Application>Microsoft Office PowerPoint</Application>
  <PresentationFormat>On-screen Show (4:3)</PresentationFormat>
  <Paragraphs>129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Wingdings 2</vt:lpstr>
      <vt:lpstr>Civic</vt:lpstr>
      <vt:lpstr>Design and Analysis of An OMNeT++ based Simulation Framework for Optical Burst Switching </vt:lpstr>
      <vt:lpstr>Presentation Outline</vt:lpstr>
      <vt:lpstr>Introduction</vt:lpstr>
      <vt:lpstr>Optical Burst Switching</vt:lpstr>
      <vt:lpstr>Problem Statement</vt:lpstr>
      <vt:lpstr>Objectives</vt:lpstr>
      <vt:lpstr>OMNET++</vt:lpstr>
      <vt:lpstr>Core Files for Building a Network in OMNeT++</vt:lpstr>
      <vt:lpstr>Core Files for Building a Network in OMNeT++</vt:lpstr>
      <vt:lpstr>Core Files for Building a Network in OMNeT++</vt:lpstr>
      <vt:lpstr>Linkage of FYP with UN SDGs </vt:lpstr>
      <vt:lpstr>Mapping of FYP with 5 DCSE Courses </vt:lpstr>
      <vt:lpstr>Moral and Ethical Considerations</vt:lpstr>
      <vt:lpstr>Societal Impact </vt:lpstr>
      <vt:lpstr>Expected Outcome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Mohsin Sajjad</cp:lastModifiedBy>
  <cp:revision>78</cp:revision>
  <dcterms:created xsi:type="dcterms:W3CDTF">2023-12-23T06:41:24Z</dcterms:created>
  <dcterms:modified xsi:type="dcterms:W3CDTF">2025-10-02T04:41:47Z</dcterms:modified>
</cp:coreProperties>
</file>