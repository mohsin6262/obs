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sldIdLst>
    <p:sldId id="256" r:id="rId2"/>
    <p:sldId id="257" r:id="rId3"/>
    <p:sldId id="266" r:id="rId4"/>
    <p:sldId id="269" r:id="rId5"/>
    <p:sldId id="261" r:id="rId6"/>
    <p:sldId id="267" r:id="rId7"/>
    <p:sldId id="270" r:id="rId8"/>
    <p:sldId id="271" r:id="rId9"/>
    <p:sldId id="272" r:id="rId10"/>
    <p:sldId id="273" r:id="rId11"/>
    <p:sldId id="262" r:id="rId12"/>
    <p:sldId id="263" r:id="rId13"/>
    <p:sldId id="268" r:id="rId14"/>
    <p:sldId id="264" r:id="rId15"/>
    <p:sldId id="265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x-non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207DCD-E8D0-4330-AFA1-0809C7BC71BC}" type="datetimeFigureOut">
              <a:rPr lang="x-none" smtClean="0"/>
              <a:t>10/1/2025</a:t>
            </a:fld>
            <a:endParaRPr lang="x-non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x-non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1716E1-C3F8-4F2C-A279-EACB7A388CC8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9164236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ED251-4733-4358-BA0B-88770A2716FD}" type="datetime8">
              <a:rPr lang="x-none" smtClean="0"/>
              <a:t>10/1/2025 3:10 PM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1ABB8-0EF1-4B69-81B0-C2943902A61B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2460895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54143-42C2-4C0E-92FB-7C8EC0328C49}" type="datetime8">
              <a:rPr lang="x-none" smtClean="0"/>
              <a:t>10/1/2025 3:10 PM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xmlns="" id="{59A5A3FD-B219-41C5-8788-EBC9FEFDC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27999" y="6041361"/>
            <a:ext cx="1146003" cy="365125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 Slide # </a:t>
            </a:r>
            <a:fld id="{9451ABB8-0EF1-4B69-81B0-C2943902A61B}" type="slidenum">
              <a:rPr lang="x-none" smtClean="0">
                <a:solidFill>
                  <a:srgbClr val="FF0000"/>
                </a:solidFill>
              </a:rPr>
              <a:t>‹#›</a:t>
            </a:fld>
            <a:r>
              <a:rPr lang="en-US" dirty="0">
                <a:solidFill>
                  <a:srgbClr val="FF0000"/>
                </a:solidFill>
              </a:rPr>
              <a:t> </a:t>
            </a:r>
            <a:endParaRPr lang="x-none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63136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19349-BCA0-42C2-944C-DA9FF81F0280}" type="datetime8">
              <a:rPr lang="x-none" smtClean="0"/>
              <a:t>10/1/2025 3:10 PM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xmlns="" id="{B864EF00-3D35-4740-95A8-8806E117974A}"/>
              </a:ext>
            </a:extLst>
          </p:cNvPr>
          <p:cNvSpPr txBox="1">
            <a:spLocks/>
          </p:cNvSpPr>
          <p:nvPr userDrawn="1"/>
        </p:nvSpPr>
        <p:spPr>
          <a:xfrm>
            <a:off x="8128000" y="6171466"/>
            <a:ext cx="11460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FF0000"/>
                </a:solidFill>
              </a:rPr>
              <a:t> Slide # </a:t>
            </a:r>
            <a:fld id="{9451ABB8-0EF1-4B69-81B0-C2943902A61B}" type="slidenum">
              <a:rPr lang="x-none" smtClean="0">
                <a:solidFill>
                  <a:srgbClr val="FF0000"/>
                </a:solidFill>
              </a:rPr>
              <a:pPr/>
              <a:t>‹#›</a:t>
            </a:fld>
            <a:r>
              <a:rPr lang="en-US" dirty="0">
                <a:solidFill>
                  <a:srgbClr val="FF0000"/>
                </a:solidFill>
              </a:rPr>
              <a:t> </a:t>
            </a:r>
            <a:endParaRPr lang="x-none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56970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0B9D5-E679-4675-8901-4FB138F62469}" type="datetime8">
              <a:rPr lang="x-none" smtClean="0"/>
              <a:t>10/1/2025 3:10 PM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xmlns="" id="{50767B21-ED1B-4125-BC8F-00DFA9E40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27999" y="6088988"/>
            <a:ext cx="1146003" cy="365125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 Slide # </a:t>
            </a:r>
            <a:fld id="{9451ABB8-0EF1-4B69-81B0-C2943902A61B}" type="slidenum">
              <a:rPr lang="x-none" smtClean="0">
                <a:solidFill>
                  <a:srgbClr val="FF0000"/>
                </a:solidFill>
              </a:rPr>
              <a:t>‹#›</a:t>
            </a:fld>
            <a:r>
              <a:rPr lang="en-US" dirty="0">
                <a:solidFill>
                  <a:srgbClr val="FF0000"/>
                </a:solidFill>
              </a:rPr>
              <a:t> </a:t>
            </a:r>
            <a:endParaRPr lang="x-none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48108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E67A4-DAC7-49D4-9390-2B11ED3B5D46}" type="datetime8">
              <a:rPr lang="x-none" smtClean="0"/>
              <a:t>10/1/2025 3:10 PM</a:t>
            </a:fld>
            <a:endParaRPr lang="x-non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1ABB8-0EF1-4B69-81B0-C2943902A61B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9781811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7F197-8DEE-4D0A-BEE4-CA7638ADA533}" type="datetime8">
              <a:rPr lang="x-none" smtClean="0"/>
              <a:t>10/1/2025 3:10 PM</a:t>
            </a:fld>
            <a:endParaRPr lang="x-non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1ABB8-0EF1-4B69-81B0-C2943902A61B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7388794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F1B68-4FF6-415E-9A89-4263699932B8}" type="datetime8">
              <a:rPr lang="x-none" smtClean="0"/>
              <a:t>10/1/2025 3:10 PM</a:t>
            </a:fld>
            <a:endParaRPr lang="x-non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1ABB8-0EF1-4B69-81B0-C2943902A61B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991301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90598-E050-4FB7-9E5D-BE5FF1D15CC8}" type="datetime8">
              <a:rPr lang="x-none" smtClean="0"/>
              <a:t>10/1/2025 3:10 PM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1ABB8-0EF1-4B69-81B0-C2943902A61B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4836608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55DAD-B375-4F24-91F5-11A6C55F98C6}" type="datetime8">
              <a:rPr lang="x-none" smtClean="0"/>
              <a:t>10/1/2025 3:10 PM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1ABB8-0EF1-4B69-81B0-C2943902A61B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561729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BDF4D-ECEC-4249-9E8E-40EB83DCCDB5}" type="datetime8">
              <a:rPr lang="x-none" smtClean="0"/>
              <a:t>10/1/2025 3:10 PM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1ABB8-0EF1-4B69-81B0-C2943902A61B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5460669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4F972-D48A-4080-A18E-2D2ED8E59D2B}" type="datetime8">
              <a:rPr lang="x-none" smtClean="0"/>
              <a:t>10/1/2025 3:10 PM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1ABB8-0EF1-4B69-81B0-C2943902A61B}" type="slidenum">
              <a:rPr lang="x-none" smtClean="0"/>
              <a:t>‹#›</a:t>
            </a:fld>
            <a:endParaRPr lang="x-none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610328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1C444-919D-4BF0-86D0-7607F1AD5141}" type="datetime8">
              <a:rPr lang="x-none" smtClean="0"/>
              <a:t>10/1/2025 3:10 PM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1ABB8-0EF1-4B69-81B0-C2943902A61B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8627449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D7F8C-9B81-4C3A-A551-41AA7D3DAD8F}" type="datetime8">
              <a:rPr lang="x-none" smtClean="0"/>
              <a:t>10/1/2025 3:10 PM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1ABB8-0EF1-4B69-81B0-C2943902A61B}" type="slidenum">
              <a:rPr lang="x-none" smtClean="0"/>
              <a:t>‹#›</a:t>
            </a:fld>
            <a:endParaRPr lang="x-none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954381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BFCB4-590D-4E26-B941-3645AF78ABD4}" type="datetime8">
              <a:rPr lang="x-none" smtClean="0"/>
              <a:t>10/1/2025 3:10 PM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1ABB8-0EF1-4B69-81B0-C2943902A61B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0581885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B8C1E-2E07-458D-8203-EE4658E68225}" type="datetime8">
              <a:rPr lang="x-none" smtClean="0"/>
              <a:t>10/1/2025 3:10 PM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1ABB8-0EF1-4B69-81B0-C2943902A61B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8625204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83041-759D-4C05-83F7-63A6007F7C6C}" type="datetime8">
              <a:rPr lang="x-none" smtClean="0"/>
              <a:t>10/1/2025 3:10 PM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1ABB8-0EF1-4B69-81B0-C2943902A61B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3265974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C3D250-7197-4A85-886A-06B138DA43F1}" type="datetime8">
              <a:rPr lang="x-none" smtClean="0"/>
              <a:t>10/1/2025 3:10 PM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9451ABB8-0EF1-4B69-81B0-C2943902A61B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443687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7F1A542-B1CA-496E-8F7E-9D83CF4F0A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71075" y="1033272"/>
            <a:ext cx="7659386" cy="2624328"/>
          </a:xfrm>
        </p:spPr>
        <p:txBody>
          <a:bodyPr/>
          <a:lstStyle/>
          <a:p>
            <a:pPr algn="ctr"/>
            <a:r>
              <a:rPr lang="en-US" sz="3600" dirty="0"/>
              <a:t/>
            </a:r>
            <a:br>
              <a:rPr lang="en-US" sz="3600" dirty="0"/>
            </a:br>
            <a:r>
              <a:rPr lang="en-US" sz="3600" dirty="0"/>
              <a:t/>
            </a:r>
            <a:br>
              <a:rPr lang="en-US" sz="3600" dirty="0"/>
            </a:br>
            <a:r>
              <a:rPr lang="en-US" sz="3600" dirty="0"/>
              <a:t>Design and Analysis of An OMNeT++ based Simulation Framework for Optical Burst Switching</a:t>
            </a:r>
            <a:r>
              <a:rPr lang="en-US" sz="3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3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3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3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</a:t>
            </a:r>
            <a:r>
              <a:rPr lang="en-US" sz="2400" cap="none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Proposal Defense</a:t>
            </a:r>
            <a:endParaRPr lang="x-none" sz="3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1F58B199-A33E-4774-B892-9083347002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0877" y="3840518"/>
            <a:ext cx="7461019" cy="2615145"/>
          </a:xfrm>
        </p:spPr>
        <p:txBody>
          <a:bodyPr>
            <a:normAutofit fontScale="77500" lnSpcReduction="20000"/>
          </a:bodyPr>
          <a:lstStyle/>
          <a:p>
            <a:pPr algn="ctr"/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Group Members:        </a:t>
            </a:r>
          </a:p>
          <a:p>
            <a:r>
              <a:rPr lang="en-US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Mohsin Sajjad    22PWCSE2149</a:t>
            </a:r>
            <a:endParaRPr lang="en-US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Sawaira Haq   22PWCSE2172</a:t>
            </a:r>
            <a:endParaRPr lang="en-US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Sana Zahir   22PWCSE2151</a:t>
            </a:r>
          </a:p>
          <a:p>
            <a:r>
              <a:rPr lang="en-US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Muhammad Shafique Qureshi  22PWCSE2189</a:t>
            </a:r>
            <a:endParaRPr lang="en-US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800" cap="none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Supervisor: </a:t>
            </a:r>
          </a:p>
          <a:p>
            <a:r>
              <a:rPr lang="en-US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Engr. Ihsan ul haq</a:t>
            </a:r>
            <a:r>
              <a:rPr lang="en-US" sz="1800" dirty="0">
                <a:solidFill>
                  <a:srgbClr val="0070C0"/>
                </a:solidFill>
              </a:rPr>
              <a:t/>
            </a:r>
            <a:br>
              <a:rPr lang="en-US" sz="1800" dirty="0">
                <a:solidFill>
                  <a:srgbClr val="0070C0"/>
                </a:solidFill>
              </a:rPr>
            </a:br>
            <a:r>
              <a:rPr lang="en-US" sz="1800" dirty="0"/>
              <a:t> </a:t>
            </a:r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24861062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0F789F6-8C31-4784-9EFC-642A01EBD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Presentation Outline</a:t>
            </a:r>
            <a:endParaRPr lang="x-non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9986067-657A-4958-9DA6-64DA08DC39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13851"/>
            <a:ext cx="8596668" cy="3880773"/>
          </a:xfrm>
        </p:spPr>
        <p:txBody>
          <a:bodyPr>
            <a:normAutofit/>
          </a:bodyPr>
          <a:lstStyle/>
          <a:p>
            <a:pPr marL="514350" indent="-514350">
              <a:lnSpc>
                <a:spcPct val="110000"/>
              </a:lnSpc>
              <a:buNone/>
            </a:pPr>
            <a:r>
              <a:rPr lang="en-US" dirty="0" smtClean="0"/>
              <a:t>1</a:t>
            </a:r>
            <a:r>
              <a:rPr lang="en-US" sz="1800" dirty="0" smtClean="0"/>
              <a:t>. </a:t>
            </a:r>
            <a:r>
              <a:rPr lang="en-US" dirty="0" smtClean="0"/>
              <a:t>Introduction</a:t>
            </a:r>
            <a:endParaRPr lang="en-US" sz="1800" dirty="0" smtClean="0"/>
          </a:p>
          <a:p>
            <a:pPr marL="514350" indent="-514350">
              <a:lnSpc>
                <a:spcPct val="110000"/>
              </a:lnSpc>
              <a:buNone/>
            </a:pPr>
            <a:r>
              <a:rPr lang="en-US" dirty="0" smtClean="0"/>
              <a:t>2. </a:t>
            </a:r>
            <a:r>
              <a:rPr lang="en-US" dirty="0"/>
              <a:t>Problem </a:t>
            </a:r>
            <a:r>
              <a:rPr lang="en-US" dirty="0" smtClean="0"/>
              <a:t>Statement</a:t>
            </a:r>
          </a:p>
          <a:p>
            <a:pPr marL="514350" indent="-514350">
              <a:lnSpc>
                <a:spcPct val="110000"/>
              </a:lnSpc>
              <a:buNone/>
            </a:pPr>
            <a:r>
              <a:rPr lang="en-US" dirty="0" smtClean="0"/>
              <a:t>3. Objectives</a:t>
            </a:r>
          </a:p>
          <a:p>
            <a:pPr marL="514350" indent="-514350">
              <a:lnSpc>
                <a:spcPct val="110000"/>
              </a:lnSpc>
              <a:buNone/>
            </a:pPr>
            <a:r>
              <a:rPr lang="en-US" dirty="0" smtClean="0"/>
              <a:t>4. Introduction of </a:t>
            </a:r>
            <a:r>
              <a:rPr lang="en-US" dirty="0" err="1" smtClean="0"/>
              <a:t>omnet</a:t>
            </a:r>
            <a:r>
              <a:rPr lang="en-US" dirty="0" smtClean="0"/>
              <a:t>++</a:t>
            </a:r>
            <a:endParaRPr lang="en-US" dirty="0"/>
          </a:p>
          <a:p>
            <a:pPr marL="514350" indent="-514350">
              <a:lnSpc>
                <a:spcPct val="110000"/>
              </a:lnSpc>
              <a:buNone/>
            </a:pPr>
            <a:r>
              <a:rPr lang="en-US" dirty="0"/>
              <a:t>5</a:t>
            </a:r>
            <a:r>
              <a:rPr lang="en-US" sz="1800" dirty="0" smtClean="0"/>
              <a:t>. </a:t>
            </a:r>
            <a:r>
              <a:rPr lang="en-US" sz="1800" dirty="0"/>
              <a:t>Linkage of FYP with UN </a:t>
            </a:r>
            <a:r>
              <a:rPr lang="en-US" dirty="0"/>
              <a:t>SDGs</a:t>
            </a:r>
            <a:endParaRPr lang="en-US" sz="1800" dirty="0"/>
          </a:p>
          <a:p>
            <a:pPr marL="514350" indent="-514350">
              <a:lnSpc>
                <a:spcPct val="110000"/>
              </a:lnSpc>
              <a:buNone/>
            </a:pPr>
            <a:r>
              <a:rPr lang="en-US" dirty="0"/>
              <a:t>6</a:t>
            </a:r>
            <a:r>
              <a:rPr lang="en-US" sz="1800" dirty="0" smtClean="0"/>
              <a:t>. </a:t>
            </a:r>
            <a:r>
              <a:rPr lang="en-US" sz="1800" dirty="0"/>
              <a:t>Mapping and Justification of FYP with 5 </a:t>
            </a:r>
            <a:r>
              <a:rPr lang="en-US" sz="1800" dirty="0" smtClean="0"/>
              <a:t>Courses</a:t>
            </a:r>
          </a:p>
          <a:p>
            <a:pPr marL="514350" indent="-514350">
              <a:lnSpc>
                <a:spcPct val="110000"/>
              </a:lnSpc>
              <a:buNone/>
            </a:pPr>
            <a:r>
              <a:rPr lang="en-US" dirty="0"/>
              <a:t>7</a:t>
            </a:r>
            <a:r>
              <a:rPr lang="en-US" dirty="0" smtClean="0"/>
              <a:t>. Moral and Ethical Considerations</a:t>
            </a:r>
            <a:endParaRPr lang="en-US" sz="1800" dirty="0"/>
          </a:p>
          <a:p>
            <a:pPr marL="514350" indent="-514350">
              <a:lnSpc>
                <a:spcPct val="110000"/>
              </a:lnSpc>
              <a:buNone/>
            </a:pPr>
            <a:r>
              <a:rPr lang="en-US" dirty="0"/>
              <a:t>8</a:t>
            </a:r>
            <a:r>
              <a:rPr lang="en-US" sz="1800" dirty="0" smtClean="0"/>
              <a:t>. </a:t>
            </a:r>
            <a:r>
              <a:rPr lang="en-US" dirty="0"/>
              <a:t>Societal Impact</a:t>
            </a:r>
          </a:p>
          <a:p>
            <a:pPr marL="514350" indent="-514350">
              <a:lnSpc>
                <a:spcPct val="110000"/>
              </a:lnSpc>
              <a:buNone/>
            </a:pPr>
            <a:r>
              <a:rPr lang="en-US" dirty="0"/>
              <a:t>9</a:t>
            </a:r>
            <a:r>
              <a:rPr lang="en-US" dirty="0" smtClean="0"/>
              <a:t>. </a:t>
            </a:r>
            <a:r>
              <a:rPr lang="en-US" dirty="0"/>
              <a:t>Expected Outcome</a:t>
            </a:r>
            <a:endParaRPr lang="en-US" sz="1800" dirty="0"/>
          </a:p>
          <a:p>
            <a:pPr marL="0" indent="0">
              <a:buNone/>
            </a:pPr>
            <a:endParaRPr lang="en-US" dirty="0"/>
          </a:p>
          <a:p>
            <a:endParaRPr lang="x-none" dirty="0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xmlns="" id="{62835406-B710-43A4-A180-83F100CCB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39314" y="6266333"/>
            <a:ext cx="1146003" cy="365125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sz="1600" dirty="0">
                <a:solidFill>
                  <a:srgbClr val="FF0000"/>
                </a:solidFill>
              </a:rPr>
              <a:t>Slide # </a:t>
            </a:r>
            <a:fld id="{9451ABB8-0EF1-4B69-81B0-C2943902A61B}" type="slidenum">
              <a:rPr lang="x-none" sz="1600" smtClean="0">
                <a:solidFill>
                  <a:srgbClr val="FF0000"/>
                </a:solidFill>
              </a:rPr>
              <a:t>2</a:t>
            </a:fld>
            <a:r>
              <a:rPr lang="en-US" sz="1600" dirty="0" smtClean="0">
                <a:solidFill>
                  <a:srgbClr val="FF0000"/>
                </a:solidFill>
              </a:rPr>
              <a:t> </a:t>
            </a:r>
            <a:endParaRPr lang="x-none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7076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b="1" dirty="0" smtClean="0"/>
              <a:t>“</a:t>
            </a:r>
            <a:r>
              <a:rPr lang="en-US" sz="2000" b="1" dirty="0"/>
              <a:t>Can today’s internet keep up with tomorrow’s needs?”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Internet </a:t>
            </a:r>
            <a:r>
              <a:rPr lang="en-US" dirty="0"/>
              <a:t>demand is growing fast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Current </a:t>
            </a:r>
            <a:r>
              <a:rPr lang="en-US" dirty="0"/>
              <a:t>optical methods have limits</a:t>
            </a:r>
            <a:r>
              <a:rPr lang="en-US" dirty="0" smtClean="0"/>
              <a:t>:</a:t>
            </a:r>
          </a:p>
          <a:p>
            <a:pPr marL="0" indent="0">
              <a:buNone/>
            </a:pPr>
            <a:r>
              <a:rPr lang="en-US" dirty="0" smtClean="0"/>
              <a:t>             OCS: Reliable but wastes bandwidth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      OPS</a:t>
            </a:r>
            <a:r>
              <a:rPr lang="en-US" dirty="0"/>
              <a:t>: Efficient but too costly &amp; complex</a:t>
            </a:r>
          </a:p>
          <a:p>
            <a:pPr marL="0" indent="0">
              <a:buNone/>
            </a:pPr>
            <a:r>
              <a:rPr lang="en-US" b="1" dirty="0" smtClean="0"/>
              <a:t>Key </a:t>
            </a:r>
            <a:r>
              <a:rPr lang="en-US" b="1" dirty="0"/>
              <a:t>question: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b="1" dirty="0"/>
              <a:t>How to make networks </a:t>
            </a:r>
            <a:r>
              <a:rPr lang="en-US" sz="2000" b="1" dirty="0" smtClean="0"/>
              <a:t>fast </a:t>
            </a:r>
            <a:r>
              <a:rPr lang="en-US" sz="2000" b="1" dirty="0"/>
              <a:t>and </a:t>
            </a:r>
            <a:r>
              <a:rPr lang="en-US" sz="2000" b="1" dirty="0" smtClean="0"/>
              <a:t>efficient?</a:t>
            </a:r>
            <a:endParaRPr lang="en-US" sz="2000" b="1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210295" y="6041362"/>
            <a:ext cx="1146003" cy="365125"/>
          </a:xfrm>
        </p:spPr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sz="1600" dirty="0" smtClean="0">
                <a:solidFill>
                  <a:srgbClr val="FF0000"/>
                </a:solidFill>
              </a:rPr>
              <a:t>Slide # </a:t>
            </a:r>
            <a:fld id="{9451ABB8-0EF1-4B69-81B0-C2943902A61B}" type="slidenum">
              <a:rPr lang="x-none" sz="1600" smtClean="0">
                <a:solidFill>
                  <a:srgbClr val="FF0000"/>
                </a:solidFill>
              </a:rPr>
              <a:t>3</a:t>
            </a:fld>
            <a:r>
              <a:rPr lang="en-US" sz="1600" dirty="0" smtClean="0">
                <a:solidFill>
                  <a:srgbClr val="FF0000"/>
                </a:solidFill>
              </a:rPr>
              <a:t> </a:t>
            </a:r>
            <a:endParaRPr lang="x-none" sz="1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85849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Optical Burst Switching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794829"/>
            <a:ext cx="8596668" cy="388077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 </a:t>
            </a:r>
            <a:endParaRPr lang="en-US" sz="1600" dirty="0" smtClean="0"/>
          </a:p>
          <a:p>
            <a:pPr marL="0" indent="0">
              <a:buNone/>
            </a:pPr>
            <a:r>
              <a:rPr lang="en-US" b="1" dirty="0" smtClean="0"/>
              <a:t>What is Optical Burst Switching (OBS)?</a:t>
            </a:r>
            <a:endParaRPr lang="en-US" sz="1100" dirty="0" smtClean="0"/>
          </a:p>
          <a:p>
            <a:pPr lvl="0"/>
            <a:r>
              <a:rPr lang="en-US" dirty="0" smtClean="0"/>
              <a:t>Future-ready </a:t>
            </a:r>
            <a:r>
              <a:rPr lang="en-US" dirty="0"/>
              <a:t>high-speed switching for internet </a:t>
            </a:r>
            <a:r>
              <a:rPr lang="en-US" dirty="0" smtClean="0"/>
              <a:t>networks</a:t>
            </a:r>
          </a:p>
          <a:p>
            <a:pPr lvl="0"/>
            <a:r>
              <a:rPr lang="en-US" dirty="0" smtClean="0"/>
              <a:t>Able </a:t>
            </a:r>
            <a:r>
              <a:rPr lang="en-US" dirty="0"/>
              <a:t>to efficiently utilize extremely high </a:t>
            </a:r>
            <a:r>
              <a:rPr lang="en-US" dirty="0" smtClean="0"/>
              <a:t>capacity </a:t>
            </a:r>
            <a:r>
              <a:rPr lang="en-US" dirty="0"/>
              <a:t>links</a:t>
            </a:r>
          </a:p>
          <a:p>
            <a:pPr lvl="0"/>
            <a:r>
              <a:rPr lang="en-US" dirty="0"/>
              <a:t>Groups many small packets into a larger “burst” before sending</a:t>
            </a:r>
            <a:endParaRPr lang="en-US" sz="1600" dirty="0"/>
          </a:p>
          <a:p>
            <a:pPr lvl="0"/>
            <a:r>
              <a:rPr lang="en-US" dirty="0"/>
              <a:t>Control packet goes first to set up the path, then the burst follows</a:t>
            </a:r>
            <a:endParaRPr lang="en-US" sz="1600" dirty="0"/>
          </a:p>
          <a:p>
            <a:pPr lvl="0"/>
            <a:r>
              <a:rPr lang="en-US" dirty="0"/>
              <a:t>At intermediate nodes:</a:t>
            </a:r>
            <a:endParaRPr lang="en-US" sz="16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Bursts are switched directly (no need for </a:t>
            </a:r>
            <a:r>
              <a:rPr lang="en-US" dirty="0" smtClean="0"/>
              <a:t>conversion)</a:t>
            </a:r>
            <a:endParaRPr lang="en-US" sz="1400" dirty="0"/>
          </a:p>
          <a:p>
            <a:pPr lvl="0"/>
            <a:r>
              <a:rPr lang="en-US" dirty="0"/>
              <a:t>At the destination:</a:t>
            </a:r>
            <a:endParaRPr lang="en-US" sz="16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Bursts are split back into packets and </a:t>
            </a:r>
            <a:r>
              <a:rPr lang="en-US" dirty="0" smtClean="0"/>
              <a:t>delivered</a:t>
            </a:r>
            <a:r>
              <a:rPr lang="en-US" dirty="0"/>
              <a:t> 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1400" dirty="0" smtClean="0">
                <a:solidFill>
                  <a:srgbClr val="FF0000"/>
                </a:solidFill>
              </a:rPr>
              <a:t> Slide # </a:t>
            </a:r>
            <a:fld id="{9451ABB8-0EF1-4B69-81B0-C2943902A61B}" type="slidenum">
              <a:rPr lang="x-none" sz="1400" smtClean="0">
                <a:solidFill>
                  <a:srgbClr val="FF0000"/>
                </a:solidFill>
              </a:rPr>
              <a:t>4</a:t>
            </a:fld>
            <a:r>
              <a:rPr lang="en-US" sz="1400" dirty="0" smtClean="0">
                <a:solidFill>
                  <a:srgbClr val="FF0000"/>
                </a:solidFill>
              </a:rPr>
              <a:t> </a:t>
            </a:r>
            <a:endParaRPr lang="x-none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86926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E89763A-5BF6-4BEF-BF2C-AF6759725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  <a:endParaRPr lang="x-non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CA626BE-DA73-4FF9-A562-184DE2BE33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2400" dirty="0"/>
              <a:t>Previous studies used older OMNeT++ versions (4.x)</a:t>
            </a:r>
          </a:p>
          <a:p>
            <a:pPr lvl="0"/>
            <a:r>
              <a:rPr lang="en-US" sz="2400" dirty="0"/>
              <a:t>These versions are now obsolete and not compatible with modern operating systems</a:t>
            </a:r>
          </a:p>
          <a:p>
            <a:pPr lvl="0"/>
            <a:r>
              <a:rPr lang="en-US" sz="2400" dirty="0"/>
              <a:t>Our work uses the latest stable release, OMNeT++ 6.2</a:t>
            </a:r>
          </a:p>
          <a:p>
            <a:pPr marL="0" indent="0">
              <a:buNone/>
            </a:pPr>
            <a:endParaRPr lang="x-none" dirty="0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xmlns="" id="{561673FE-094A-42A1-9A77-F7C4E92FB36A}"/>
              </a:ext>
            </a:extLst>
          </p:cNvPr>
          <p:cNvSpPr txBox="1">
            <a:spLocks/>
          </p:cNvSpPr>
          <p:nvPr/>
        </p:nvSpPr>
        <p:spPr>
          <a:xfrm>
            <a:off x="8127999" y="6041362"/>
            <a:ext cx="11460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sz="1600" dirty="0">
                <a:solidFill>
                  <a:srgbClr val="FF0000"/>
                </a:solidFill>
              </a:rPr>
              <a:t>Slide # </a:t>
            </a:r>
            <a:fld id="{9451ABB8-0EF1-4B69-81B0-C2943902A61B}" type="slidenum">
              <a:rPr lang="x-none" sz="1600" smtClean="0">
                <a:solidFill>
                  <a:srgbClr val="FF0000"/>
                </a:solidFill>
              </a:rPr>
              <a:pPr/>
              <a:t>5</a:t>
            </a:fld>
            <a:r>
              <a:rPr lang="en-US" sz="1600" dirty="0" smtClean="0">
                <a:solidFill>
                  <a:srgbClr val="FF0000"/>
                </a:solidFill>
              </a:rPr>
              <a:t> </a:t>
            </a:r>
            <a:endParaRPr lang="x-none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88821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sz="2000" dirty="0"/>
              <a:t>To study the limitations of existing optical switching methods (OCS and OPS).</a:t>
            </a:r>
          </a:p>
          <a:p>
            <a:pPr lvl="0"/>
            <a:r>
              <a:rPr lang="en-US" sz="2000" dirty="0"/>
              <a:t>To design and implement a </a:t>
            </a:r>
            <a:r>
              <a:rPr lang="en-US" sz="2000" dirty="0" smtClean="0"/>
              <a:t>framework </a:t>
            </a:r>
            <a:r>
              <a:rPr lang="en-US" sz="2000" dirty="0"/>
              <a:t>for Optical Burst Switching (OBS) using OMNeT++ 6.2.</a:t>
            </a:r>
          </a:p>
          <a:p>
            <a:r>
              <a:rPr lang="en-US" sz="2000" dirty="0"/>
              <a:t>To analyze the results obtained from the simulation framework.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sz="1400" dirty="0" smtClean="0">
                <a:solidFill>
                  <a:srgbClr val="FF0000"/>
                </a:solidFill>
              </a:rPr>
              <a:t>Slide # </a:t>
            </a:r>
            <a:fld id="{9451ABB8-0EF1-4B69-81B0-C2943902A61B}" type="slidenum">
              <a:rPr lang="x-none" sz="1400" smtClean="0">
                <a:solidFill>
                  <a:srgbClr val="FF0000"/>
                </a:solidFill>
              </a:rPr>
              <a:t>6</a:t>
            </a:fld>
            <a:r>
              <a:rPr lang="en-US" sz="1400" dirty="0" smtClean="0">
                <a:solidFill>
                  <a:srgbClr val="FF0000"/>
                </a:solidFill>
              </a:rPr>
              <a:t> </a:t>
            </a:r>
            <a:endParaRPr lang="x-none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84302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191768"/>
          </a:xfrm>
        </p:spPr>
        <p:txBody>
          <a:bodyPr/>
          <a:lstStyle/>
          <a:p>
            <a:r>
              <a:rPr lang="en-US" dirty="0" err="1" smtClean="0"/>
              <a:t>Omnet</a:t>
            </a:r>
            <a:r>
              <a:rPr lang="en-US" dirty="0" smtClean="0"/>
              <a:t>++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2151445"/>
            <a:ext cx="8596668" cy="3880773"/>
          </a:xfrm>
        </p:spPr>
        <p:txBody>
          <a:bodyPr>
            <a:normAutofit/>
          </a:bodyPr>
          <a:lstStyle/>
          <a:p>
            <a:pPr lvl="0"/>
            <a:r>
              <a:rPr lang="en-US" sz="2400" b="1" dirty="0" smtClean="0"/>
              <a:t>INTRODUCTION: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en-US" sz="2000" dirty="0" smtClean="0"/>
              <a:t>OMNeT</a:t>
            </a:r>
            <a:r>
              <a:rPr lang="en-US" sz="2000" dirty="0"/>
              <a:t>++ is a simulation framework used for modeling and simulating computer </a:t>
            </a:r>
            <a:r>
              <a:rPr lang="en-US" sz="2000" dirty="0" smtClean="0"/>
              <a:t>networks </a:t>
            </a:r>
            <a:r>
              <a:rPr lang="en-US" sz="2000" dirty="0"/>
              <a:t>and other communication systems</a:t>
            </a:r>
            <a:r>
              <a:rPr lang="en-US" sz="2000" dirty="0" smtClean="0"/>
              <a:t>.</a:t>
            </a:r>
          </a:p>
          <a:p>
            <a:pPr lvl="0" algn="just">
              <a:buFont typeface="Wingdings" panose="05000000000000000000" pitchFamily="2" charset="2"/>
              <a:buChar char="§"/>
            </a:pPr>
            <a:r>
              <a:rPr lang="en-US" sz="2000" dirty="0" smtClean="0"/>
              <a:t>It </a:t>
            </a:r>
            <a:r>
              <a:rPr lang="en-US" sz="2000" dirty="0"/>
              <a:t>is </a:t>
            </a:r>
            <a:r>
              <a:rPr lang="en-US" sz="2000" dirty="0" smtClean="0"/>
              <a:t>modular meaning </a:t>
            </a:r>
            <a:r>
              <a:rPr lang="en-US" sz="2000" dirty="0"/>
              <a:t>you build networks using small pieces (modules) and connect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127999" y="6041362"/>
            <a:ext cx="1146003" cy="340934"/>
          </a:xfrm>
        </p:spPr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sz="1400" dirty="0" smtClean="0">
                <a:solidFill>
                  <a:srgbClr val="FF0000"/>
                </a:solidFill>
              </a:rPr>
              <a:t>Slide # </a:t>
            </a:r>
            <a:fld id="{9451ABB8-0EF1-4B69-81B0-C2943902A61B}" type="slidenum">
              <a:rPr lang="x-none" sz="1400" smtClean="0">
                <a:solidFill>
                  <a:srgbClr val="FF0000"/>
                </a:solidFill>
              </a:rPr>
              <a:t>7</a:t>
            </a:fld>
            <a:r>
              <a:rPr lang="en-US" sz="1400" dirty="0" smtClean="0">
                <a:solidFill>
                  <a:srgbClr val="FF0000"/>
                </a:solidFill>
              </a:rPr>
              <a:t> </a:t>
            </a:r>
            <a:endParaRPr lang="x-none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07613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 Files for Building a Network in OMNeT++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856233"/>
            <a:ext cx="8596668" cy="4185130"/>
          </a:xfrm>
        </p:spPr>
        <p:txBody>
          <a:bodyPr>
            <a:normAutofit/>
          </a:bodyPr>
          <a:lstStyle/>
          <a:p>
            <a:pPr lvl="0"/>
            <a:r>
              <a:rPr lang="en-US" sz="2800" b="1" dirty="0"/>
              <a:t>.</a:t>
            </a:r>
            <a:r>
              <a:rPr lang="en-US" sz="2800" b="1" dirty="0" err="1"/>
              <a:t>ned</a:t>
            </a:r>
            <a:r>
              <a:rPr lang="en-US" sz="2800" b="1" dirty="0"/>
              <a:t> file (Network </a:t>
            </a:r>
            <a:r>
              <a:rPr lang="en-US" sz="2800" b="1" dirty="0" smtClean="0"/>
              <a:t>Description)</a:t>
            </a:r>
          </a:p>
          <a:p>
            <a:pPr marL="0" lvl="0" indent="0">
              <a:buNone/>
            </a:pPr>
            <a:r>
              <a:rPr lang="en-US" sz="2000" dirty="0" smtClean="0"/>
              <a:t>Defines</a:t>
            </a:r>
            <a:r>
              <a:rPr lang="en-US" sz="2800" b="1" dirty="0" smtClean="0"/>
              <a:t> </a:t>
            </a:r>
            <a:r>
              <a:rPr lang="en-US" sz="2000" dirty="0"/>
              <a:t>t</a:t>
            </a:r>
            <a:r>
              <a:rPr lang="en-US" sz="2000" dirty="0" smtClean="0"/>
              <a:t>he </a:t>
            </a:r>
            <a:r>
              <a:rPr lang="en-US" sz="2000" dirty="0"/>
              <a:t>structure of the network</a:t>
            </a:r>
            <a:r>
              <a:rPr lang="en-US" sz="2000" dirty="0" smtClean="0"/>
              <a:t>. Tells </a:t>
            </a:r>
            <a:r>
              <a:rPr lang="en-US" sz="2000" dirty="0"/>
              <a:t>what modules </a:t>
            </a:r>
            <a:r>
              <a:rPr lang="en-US" sz="2000" dirty="0" smtClean="0"/>
              <a:t>exist. Example</a:t>
            </a:r>
            <a:r>
              <a:rPr lang="en-US" sz="2000" dirty="0"/>
              <a:t>: Tic and Toc modules connected to each other.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sz="1400" dirty="0" smtClean="0">
                <a:solidFill>
                  <a:srgbClr val="FF0000"/>
                </a:solidFill>
              </a:rPr>
              <a:t>Slide # </a:t>
            </a:r>
            <a:fld id="{9451ABB8-0EF1-4B69-81B0-C2943902A61B}" type="slidenum">
              <a:rPr lang="x-none" sz="1400" smtClean="0">
                <a:solidFill>
                  <a:srgbClr val="FF0000"/>
                </a:solidFill>
              </a:rPr>
              <a:t>8</a:t>
            </a:fld>
            <a:r>
              <a:rPr lang="en-US" sz="1400" dirty="0" smtClean="0">
                <a:solidFill>
                  <a:srgbClr val="FF0000"/>
                </a:solidFill>
              </a:rPr>
              <a:t> </a:t>
            </a:r>
            <a:endParaRPr lang="x-none" dirty="0">
              <a:solidFill>
                <a:srgbClr val="FF0000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072" y="3264408"/>
            <a:ext cx="4851344" cy="3000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6859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Core Files for Building a Network in OMNeT++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856233"/>
            <a:ext cx="8596668" cy="4185130"/>
          </a:xfrm>
        </p:spPr>
        <p:txBody>
          <a:bodyPr>
            <a:normAutofit/>
          </a:bodyPr>
          <a:lstStyle/>
          <a:p>
            <a:pPr lvl="0"/>
            <a:r>
              <a:rPr lang="en-US" sz="2800" b="1" dirty="0"/>
              <a:t>.cc file (C++ Source Code</a:t>
            </a:r>
            <a:r>
              <a:rPr lang="en-US" sz="2800" b="1" dirty="0" smtClean="0"/>
              <a:t>)</a:t>
            </a:r>
          </a:p>
          <a:p>
            <a:pPr marL="0" lvl="0" indent="0">
              <a:buNone/>
            </a:pPr>
            <a:r>
              <a:rPr lang="en-US" sz="2000" dirty="0" smtClean="0"/>
              <a:t>Defines </a:t>
            </a:r>
            <a:r>
              <a:rPr lang="en-US" sz="2000" dirty="0"/>
              <a:t>the behavior of modules</a:t>
            </a:r>
            <a:r>
              <a:rPr lang="en-US" sz="2000" dirty="0" smtClean="0"/>
              <a:t>. Contains </a:t>
            </a:r>
            <a:r>
              <a:rPr lang="en-US" sz="2000" dirty="0"/>
              <a:t>logic like sending, receiving </a:t>
            </a:r>
            <a:r>
              <a:rPr lang="en-US" sz="2000" dirty="0" smtClean="0"/>
              <a:t>messages etc. </a:t>
            </a:r>
          </a:p>
          <a:p>
            <a:pPr marL="0" lvl="0" indent="0">
              <a:buNone/>
            </a:pP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sz="1400" dirty="0" smtClean="0">
                <a:solidFill>
                  <a:srgbClr val="FF0000"/>
                </a:solidFill>
              </a:rPr>
              <a:t>Slide # </a:t>
            </a:r>
            <a:fld id="{9451ABB8-0EF1-4B69-81B0-C2943902A61B}" type="slidenum">
              <a:rPr lang="x-none" sz="1400" smtClean="0">
                <a:solidFill>
                  <a:srgbClr val="FF0000"/>
                </a:solidFill>
              </a:rPr>
              <a:t>9</a:t>
            </a:fld>
            <a:r>
              <a:rPr lang="en-US" sz="1400" dirty="0" smtClean="0">
                <a:solidFill>
                  <a:srgbClr val="FF0000"/>
                </a:solidFill>
              </a:rPr>
              <a:t> </a:t>
            </a:r>
            <a:endParaRPr lang="x-none" dirty="0">
              <a:solidFill>
                <a:srgbClr val="FF0000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3177033"/>
            <a:ext cx="5375085" cy="3518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4278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Core Files for Building a Network in OMNeT++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856233"/>
            <a:ext cx="8596668" cy="4185130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sz="2800" b="1" dirty="0"/>
              <a:t>.</a:t>
            </a:r>
            <a:r>
              <a:rPr lang="en-US" sz="2800" b="1" dirty="0" err="1"/>
              <a:t>ini</a:t>
            </a:r>
            <a:r>
              <a:rPr lang="en-US" sz="2800" b="1" dirty="0"/>
              <a:t> file (Configuration</a:t>
            </a:r>
            <a:r>
              <a:rPr lang="en-US" sz="2800" b="1" dirty="0" smtClean="0"/>
              <a:t>)</a:t>
            </a:r>
          </a:p>
          <a:p>
            <a:pPr marL="0" lvl="0" indent="0">
              <a:buNone/>
            </a:pPr>
            <a:r>
              <a:rPr lang="en-US" sz="2000" dirty="0" smtClean="0"/>
              <a:t>Defines </a:t>
            </a:r>
            <a:r>
              <a:rPr lang="en-US" sz="2000" dirty="0"/>
              <a:t>the simulation setup</a:t>
            </a:r>
            <a:r>
              <a:rPr lang="en-US" sz="2000" dirty="0" smtClean="0"/>
              <a:t>. Tells </a:t>
            </a:r>
            <a:r>
              <a:rPr lang="en-US" sz="2000" dirty="0"/>
              <a:t>which network to run, simulation time, </a:t>
            </a:r>
            <a:r>
              <a:rPr lang="en-US" sz="2000" dirty="0" smtClean="0"/>
              <a:t>parameters. 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sz="1400" dirty="0" smtClean="0">
                <a:solidFill>
                  <a:srgbClr val="FF0000"/>
                </a:solidFill>
              </a:rPr>
              <a:t>Slide # </a:t>
            </a:r>
            <a:fld id="{9451ABB8-0EF1-4B69-81B0-C2943902A61B}" type="slidenum">
              <a:rPr lang="x-none" sz="1400" smtClean="0">
                <a:solidFill>
                  <a:srgbClr val="FF0000"/>
                </a:solidFill>
              </a:rPr>
              <a:t>10</a:t>
            </a:fld>
            <a:r>
              <a:rPr lang="en-US" sz="1400" dirty="0" smtClean="0">
                <a:solidFill>
                  <a:srgbClr val="FF0000"/>
                </a:solidFill>
              </a:rPr>
              <a:t> </a:t>
            </a:r>
            <a:endParaRPr lang="x-none" dirty="0">
              <a:solidFill>
                <a:srgbClr val="FF0000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3177033"/>
            <a:ext cx="5644069" cy="2988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0265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Linkage of FYP with UN SDGs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/>
              <a:t>Selected </a:t>
            </a:r>
            <a:r>
              <a:rPr lang="en-US" b="1" dirty="0"/>
              <a:t>Goal</a:t>
            </a:r>
            <a:r>
              <a:rPr lang="en-US" b="1" dirty="0" smtClean="0"/>
              <a:t>:</a:t>
            </a:r>
          </a:p>
          <a:p>
            <a:pPr marL="0" indent="0">
              <a:buNone/>
            </a:pPr>
            <a:r>
              <a:rPr lang="en-US" dirty="0"/>
              <a:t/>
            </a:r>
            <a:br>
              <a:rPr lang="en-US" dirty="0"/>
            </a:br>
            <a:r>
              <a:rPr lang="en-US" b="1" dirty="0"/>
              <a:t>SDG 9 – Industry, Innovation and Infrastructure</a:t>
            </a:r>
            <a:r>
              <a:rPr lang="en-US" dirty="0"/>
              <a:t/>
            </a:r>
            <a:br>
              <a:rPr lang="en-US" dirty="0"/>
            </a:br>
            <a:r>
              <a:rPr lang="en-US" i="1" dirty="0"/>
              <a:t>“Build resilient infrastructure, promote sustainable industrialization, and foster innovation</a:t>
            </a:r>
            <a:r>
              <a:rPr lang="en-US" i="1" dirty="0" smtClean="0"/>
              <a:t>.”</a:t>
            </a:r>
          </a:p>
          <a:p>
            <a:pPr marL="0" indent="0">
              <a:buNone/>
            </a:pPr>
            <a:r>
              <a:rPr lang="en-US" b="1" dirty="0"/>
              <a:t>Relevance to Project: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 smtClean="0"/>
              <a:t>The framework contribute  </a:t>
            </a:r>
            <a:r>
              <a:rPr lang="en-US" dirty="0"/>
              <a:t>to innovation in future network technologies.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 smtClean="0"/>
              <a:t>By </a:t>
            </a:r>
            <a:r>
              <a:rPr lang="en-US" dirty="0"/>
              <a:t>analyzing high-speed optical networks, it helps enhance technological capacity and supports reliable communication </a:t>
            </a:r>
            <a:r>
              <a:rPr lang="en-US" dirty="0" smtClean="0"/>
              <a:t> </a:t>
            </a:r>
            <a:r>
              <a:rPr lang="en-US" dirty="0"/>
              <a:t>for future demands.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sz="1400" dirty="0">
                <a:solidFill>
                  <a:srgbClr val="FF0000"/>
                </a:solidFill>
              </a:rPr>
              <a:t>Slide #  </a:t>
            </a:r>
            <a:fld id="{9451ABB8-0EF1-4B69-81B0-C2943902A61B}" type="slidenum">
              <a:rPr lang="x-none" sz="1400" smtClean="0">
                <a:solidFill>
                  <a:srgbClr val="FF0000"/>
                </a:solidFill>
              </a:rPr>
              <a:t>11</a:t>
            </a:fld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 smtClean="0">
                <a:solidFill>
                  <a:srgbClr val="FF0000"/>
                </a:solidFill>
              </a:rPr>
              <a:t>  </a:t>
            </a:r>
            <a:endParaRPr lang="x-none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72597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Mapping of FYP with 5 DCSE Courses 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18076525"/>
              </p:ext>
            </p:extLst>
          </p:nvPr>
        </p:nvGraphicFramePr>
        <p:xfrm>
          <a:off x="570368" y="1430446"/>
          <a:ext cx="8994545" cy="437526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9511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79073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79315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81554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128238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</a:rPr>
                        <a:t>S. No.</a:t>
                      </a:r>
                      <a:endParaRPr lang="en-US" sz="1200" dirty="0">
                        <a:effectLst/>
                        <a:latin typeface="Times New Roman"/>
                        <a:ea typeface="Times New Roman"/>
                        <a:cs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</a:rPr>
                        <a:t>Course Code</a:t>
                      </a:r>
                      <a:endParaRPr lang="en-US" sz="1200">
                        <a:effectLst/>
                        <a:latin typeface="Times New Roman"/>
                        <a:ea typeface="Times New Roman"/>
                        <a:cs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</a:rPr>
                        <a:t>Course Name</a:t>
                      </a:r>
                      <a:endParaRPr lang="en-US" sz="1200">
                        <a:effectLst/>
                        <a:latin typeface="Times New Roman"/>
                        <a:ea typeface="Times New Roman"/>
                        <a:cs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</a:rPr>
                        <a:t>Justify the linkage with FYP</a:t>
                      </a:r>
                      <a:endParaRPr lang="en-US" sz="1200" dirty="0">
                        <a:effectLst/>
                        <a:latin typeface="Times New Roman"/>
                        <a:ea typeface="Times New Roman"/>
                        <a:cs typeface="Arial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61857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</a:rPr>
                        <a:t>1.</a:t>
                      </a:r>
                      <a:endParaRPr lang="en-US" sz="1200">
                        <a:effectLst/>
                        <a:latin typeface="Times New Roman"/>
                        <a:ea typeface="Times New Roman"/>
                        <a:cs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r>
                        <a:rPr lang="en-US" sz="1200" dirty="0" smtClean="0"/>
                        <a:t>CSE-102</a:t>
                      </a:r>
                      <a:endParaRPr lang="en-US" sz="1200" dirty="0">
                        <a:effectLst/>
                        <a:latin typeface="Times New Roman"/>
                        <a:ea typeface="Times New Roman"/>
                        <a:cs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r>
                        <a:rPr lang="en-US" sz="1400" dirty="0" smtClean="0"/>
                        <a:t>Computer Programming</a:t>
                      </a:r>
                      <a:endParaRPr lang="en-US" sz="1200" dirty="0">
                        <a:effectLst/>
                        <a:latin typeface="Times New Roman"/>
                        <a:ea typeface="Times New Roman"/>
                        <a:cs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r>
                        <a:rPr lang="en-US" sz="1200" dirty="0" smtClean="0"/>
                        <a:t>Computer programming enables OBS simulation in OMNeT++.</a:t>
                      </a:r>
                      <a:endParaRPr lang="en-US" sz="1200" dirty="0">
                        <a:effectLst/>
                        <a:latin typeface="Times New Roman"/>
                        <a:ea typeface="Times New Roman"/>
                        <a:cs typeface="Arial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61857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</a:rPr>
                        <a:t>2.</a:t>
                      </a:r>
                      <a:endParaRPr lang="en-US" sz="1200">
                        <a:effectLst/>
                        <a:latin typeface="Times New Roman"/>
                        <a:ea typeface="Times New Roman"/>
                        <a:cs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r>
                        <a:rPr lang="en-US" sz="1200" dirty="0" smtClean="0"/>
                        <a:t>CSE-209</a:t>
                      </a:r>
                      <a:endParaRPr lang="en-US" sz="1200" dirty="0">
                        <a:effectLst/>
                        <a:latin typeface="Times New Roman"/>
                        <a:ea typeface="Times New Roman"/>
                        <a:cs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r>
                        <a:rPr lang="en-US" sz="1400" dirty="0" smtClean="0"/>
                        <a:t>Probability Methods in Engineering</a:t>
                      </a:r>
                      <a:endParaRPr lang="en-US" sz="1400" dirty="0">
                        <a:effectLst/>
                        <a:latin typeface="Times New Roman"/>
                        <a:ea typeface="Times New Roman"/>
                        <a:cs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r>
                        <a:rPr lang="en-US" sz="1200" dirty="0" smtClean="0"/>
                        <a:t>Probability methods will help to do statistical analysis.</a:t>
                      </a:r>
                      <a:endParaRPr lang="en-US" sz="1200" dirty="0">
                        <a:effectLst/>
                        <a:latin typeface="Times New Roman"/>
                        <a:ea typeface="Times New Roman"/>
                        <a:cs typeface="Arial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61857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</a:rPr>
                        <a:t>3.</a:t>
                      </a:r>
                      <a:endParaRPr lang="en-US" sz="1200">
                        <a:effectLst/>
                        <a:latin typeface="Times New Roman"/>
                        <a:ea typeface="Times New Roman"/>
                        <a:cs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r>
                        <a:rPr lang="en-US" sz="1200" dirty="0" smtClean="0"/>
                        <a:t>CSE-302</a:t>
                      </a:r>
                      <a:endParaRPr lang="en-US" sz="1200" dirty="0">
                        <a:effectLst/>
                        <a:latin typeface="Times New Roman"/>
                        <a:ea typeface="Times New Roman"/>
                        <a:cs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r>
                        <a:rPr lang="en-US" sz="1400" dirty="0" smtClean="0">
                          <a:effectLst/>
                        </a:rPr>
                        <a:t>Systems Programming</a:t>
                      </a:r>
                      <a:r>
                        <a:rPr lang="en-US" sz="1400" baseline="0" dirty="0" smtClean="0">
                          <a:effectLst/>
                        </a:rPr>
                        <a:t> </a:t>
                      </a:r>
                      <a:endParaRPr lang="en-US" sz="1200" dirty="0">
                        <a:effectLst/>
                        <a:latin typeface="Times New Roman"/>
                        <a:ea typeface="Times New Roman"/>
                        <a:cs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r>
                        <a:rPr lang="en-US" sz="1200" dirty="0" smtClean="0">
                          <a:effectLst/>
                        </a:rPr>
                        <a:t>S</a:t>
                      </a:r>
                      <a:r>
                        <a:rPr lang="en-US" sz="1200" dirty="0" smtClean="0"/>
                        <a:t>ystems programming is required to design and manage processes essential for OBS simulation.</a:t>
                      </a:r>
                      <a:endParaRPr lang="en-US" sz="1200" dirty="0">
                        <a:effectLst/>
                        <a:latin typeface="Times New Roman"/>
                        <a:ea typeface="Times New Roman"/>
                        <a:cs typeface="Arial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61857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</a:rPr>
                        <a:t>4.</a:t>
                      </a:r>
                      <a:endParaRPr lang="en-US" sz="1200">
                        <a:effectLst/>
                        <a:latin typeface="Times New Roman"/>
                        <a:ea typeface="Times New Roman"/>
                        <a:cs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r>
                        <a:rPr lang="en-US" sz="1200" dirty="0" smtClean="0"/>
                        <a:t>CSE-303</a:t>
                      </a:r>
                      <a:endParaRPr lang="en-US" sz="1200" dirty="0">
                        <a:effectLst/>
                        <a:latin typeface="Times New Roman"/>
                        <a:ea typeface="Times New Roman"/>
                        <a:cs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r>
                        <a:rPr lang="en-US" sz="1400" dirty="0" smtClean="0"/>
                        <a:t>Data Communication and Networks</a:t>
                      </a:r>
                      <a:endParaRPr lang="en-US" sz="1200" dirty="0">
                        <a:effectLst/>
                        <a:latin typeface="Times New Roman"/>
                        <a:ea typeface="Times New Roman"/>
                        <a:cs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r>
                        <a:rPr lang="en-US" sz="1200" dirty="0" smtClean="0"/>
                        <a:t>Data Communication and Net works explains burst transmission across optical links in OBS.</a:t>
                      </a:r>
                      <a:endParaRPr lang="en-US" sz="1200" dirty="0">
                        <a:effectLst/>
                        <a:latin typeface="Times New Roman"/>
                        <a:ea typeface="Times New Roman"/>
                        <a:cs typeface="Arial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61857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</a:rPr>
                        <a:t>5.</a:t>
                      </a:r>
                      <a:endParaRPr lang="en-US" sz="1200">
                        <a:effectLst/>
                        <a:latin typeface="Times New Roman"/>
                        <a:ea typeface="Times New Roman"/>
                        <a:cs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r>
                        <a:rPr lang="en-US" sz="1200" dirty="0" smtClean="0"/>
                        <a:t>CSE-309</a:t>
                      </a:r>
                      <a:endParaRPr lang="en-US" sz="1200" dirty="0">
                        <a:effectLst/>
                        <a:latin typeface="Times New Roman"/>
                        <a:ea typeface="Times New Roman"/>
                        <a:cs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</a:rPr>
                        <a:t> </a:t>
                      </a:r>
                      <a:r>
                        <a:rPr lang="en-US" sz="1400" dirty="0" smtClean="0"/>
                        <a:t>Communication Systems</a:t>
                      </a:r>
                      <a:endParaRPr lang="en-US" sz="1400" dirty="0">
                        <a:effectLst/>
                        <a:latin typeface="Times New Roman"/>
                        <a:ea typeface="Times New Roman"/>
                        <a:cs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r>
                        <a:rPr lang="en-US" sz="1200" dirty="0" smtClean="0"/>
                        <a:t>Provide the foundation for un </a:t>
                      </a:r>
                      <a:r>
                        <a:rPr lang="en-US" sz="1200" dirty="0" err="1" smtClean="0"/>
                        <a:t>derstanding</a:t>
                      </a:r>
                      <a:r>
                        <a:rPr lang="en-US" sz="1200" dirty="0" smtClean="0"/>
                        <a:t> signal transmission in OBS networks.</a:t>
                      </a:r>
                      <a:endParaRPr lang="en-US" sz="1200" dirty="0">
                        <a:effectLst/>
                        <a:latin typeface="Times New Roman"/>
                        <a:ea typeface="Times New Roman"/>
                        <a:cs typeface="Arial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1400" dirty="0">
                <a:solidFill>
                  <a:srgbClr val="FF0000"/>
                </a:solidFill>
              </a:rPr>
              <a:t> Slide # </a:t>
            </a:r>
            <a:fld id="{9451ABB8-0EF1-4B69-81B0-C2943902A61B}" type="slidenum">
              <a:rPr lang="x-none" sz="1400" smtClean="0">
                <a:solidFill>
                  <a:srgbClr val="FF0000"/>
                </a:solidFill>
              </a:rPr>
              <a:t>12</a:t>
            </a:fld>
            <a:r>
              <a:rPr lang="en-US" sz="1400" dirty="0" smtClean="0">
                <a:solidFill>
                  <a:srgbClr val="FF0000"/>
                </a:solidFill>
              </a:rPr>
              <a:t> </a:t>
            </a:r>
            <a:endParaRPr lang="x-none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85589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Moral and Ethical Considerations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The project is based on a simulation framework, so it does not involve personal </a:t>
            </a:r>
            <a:r>
              <a:rPr lang="en-US" dirty="0" smtClean="0"/>
              <a:t>data.</a:t>
            </a:r>
            <a:endParaRPr lang="en-US" sz="1600" dirty="0"/>
          </a:p>
          <a:p>
            <a:pPr lvl="0"/>
            <a:r>
              <a:rPr lang="en-US" dirty="0"/>
              <a:t>Focus is on improving communication technology in a responsible and fair way.</a:t>
            </a:r>
            <a:endParaRPr lang="en-US" sz="1600" dirty="0"/>
          </a:p>
          <a:p>
            <a:pPr lvl="0"/>
            <a:r>
              <a:rPr lang="en-US" dirty="0"/>
              <a:t>Ethical principles followed:</a:t>
            </a:r>
            <a:endParaRPr lang="en-US" sz="1600" dirty="0"/>
          </a:p>
          <a:p>
            <a:pPr lvl="1"/>
            <a:r>
              <a:rPr lang="en-US" b="1" dirty="0"/>
              <a:t>Transparency:</a:t>
            </a:r>
            <a:r>
              <a:rPr lang="en-US" dirty="0"/>
              <a:t> Clear reporting of methods and results.</a:t>
            </a:r>
            <a:endParaRPr lang="en-US" sz="1400" dirty="0"/>
          </a:p>
          <a:p>
            <a:pPr lvl="1"/>
            <a:r>
              <a:rPr lang="en-US" b="1" dirty="0"/>
              <a:t>Integrity:</a:t>
            </a:r>
            <a:r>
              <a:rPr lang="en-US" dirty="0"/>
              <a:t> Ensuring </a:t>
            </a:r>
            <a:r>
              <a:rPr lang="en-US" dirty="0" smtClean="0"/>
              <a:t>the </a:t>
            </a:r>
            <a:r>
              <a:rPr lang="en-US" dirty="0"/>
              <a:t>honesty </a:t>
            </a:r>
            <a:r>
              <a:rPr lang="en-US" dirty="0" smtClean="0"/>
              <a:t>in </a:t>
            </a:r>
            <a:r>
              <a:rPr lang="en-US" dirty="0"/>
              <a:t>analysis.</a:t>
            </a:r>
            <a:endParaRPr lang="en-US" sz="1400" dirty="0"/>
          </a:p>
          <a:p>
            <a:pPr lvl="1"/>
            <a:r>
              <a:rPr lang="en-US" b="1" dirty="0"/>
              <a:t>Responsible Innovation:</a:t>
            </a:r>
            <a:r>
              <a:rPr lang="en-US" dirty="0"/>
              <a:t> Developing solutions that benefit society without causing harm.</a:t>
            </a:r>
            <a:endParaRPr lang="en-US" sz="1400" dirty="0"/>
          </a:p>
          <a:p>
            <a:pPr lvl="0"/>
            <a:r>
              <a:rPr lang="en-US" dirty="0"/>
              <a:t>Overall, the project supports fair, safe, and sustainable technological progress.</a:t>
            </a:r>
            <a:endParaRPr lang="en-US" sz="16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sz="1400" dirty="0" smtClean="0">
                <a:solidFill>
                  <a:srgbClr val="FF0000"/>
                </a:solidFill>
              </a:rPr>
              <a:t>Slide # </a:t>
            </a:r>
            <a:fld id="{9451ABB8-0EF1-4B69-81B0-C2943902A61B}" type="slidenum">
              <a:rPr lang="x-none" sz="1400" smtClean="0">
                <a:solidFill>
                  <a:srgbClr val="FF0000"/>
                </a:solidFill>
              </a:rPr>
              <a:t>13</a:t>
            </a:fld>
            <a:r>
              <a:rPr lang="en-US" sz="1400" dirty="0" smtClean="0">
                <a:solidFill>
                  <a:srgbClr val="FF0000"/>
                </a:solidFill>
              </a:rPr>
              <a:t> </a:t>
            </a:r>
            <a:endParaRPr lang="x-none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72745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Societal Impact</a:t>
            </a:r>
            <a:br>
              <a:rPr lang="en-US" dirty="0"/>
            </a:br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Who </a:t>
            </a:r>
            <a:r>
              <a:rPr lang="en-US" dirty="0"/>
              <a:t>benefits?</a:t>
            </a:r>
            <a:br>
              <a:rPr lang="en-US" dirty="0"/>
            </a:br>
            <a:r>
              <a:rPr lang="en-US" dirty="0"/>
              <a:t>Researchers, telecom industry, and internet users.</a:t>
            </a:r>
          </a:p>
          <a:p>
            <a:r>
              <a:rPr lang="en-US" dirty="0" smtClean="0"/>
              <a:t>Broader </a:t>
            </a:r>
            <a:r>
              <a:rPr lang="en-US" dirty="0"/>
              <a:t>impact</a:t>
            </a:r>
            <a:r>
              <a:rPr lang="en-US" b="1" dirty="0"/>
              <a:t>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Faster and more reliable networks → stronger digital society.</a:t>
            </a:r>
          </a:p>
          <a:p>
            <a:r>
              <a:rPr lang="en-US" dirty="0"/>
              <a:t>Real-World </a:t>
            </a:r>
            <a:r>
              <a:rPr lang="en-US" dirty="0" smtClean="0"/>
              <a:t>Application: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Can be developed as a simulation tool for research and industry.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sz="1400" dirty="0">
                <a:solidFill>
                  <a:srgbClr val="FF0000"/>
                </a:solidFill>
              </a:rPr>
              <a:t>Slide # </a:t>
            </a:r>
            <a:fld id="{9451ABB8-0EF1-4B69-81B0-C2943902A61B}" type="slidenum">
              <a:rPr lang="x-none" sz="1400" smtClean="0">
                <a:solidFill>
                  <a:srgbClr val="FF0000"/>
                </a:solidFill>
              </a:rPr>
              <a:t>14</a:t>
            </a:fld>
            <a:r>
              <a:rPr lang="en-US" sz="1400" dirty="0" smtClean="0">
                <a:solidFill>
                  <a:srgbClr val="FF0000"/>
                </a:solidFill>
              </a:rPr>
              <a:t> </a:t>
            </a:r>
            <a:endParaRPr lang="x-none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13335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Expected Outcome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2117047"/>
            <a:ext cx="8596668" cy="3880773"/>
          </a:xfrm>
        </p:spPr>
        <p:txBody>
          <a:bodyPr/>
          <a:lstStyle/>
          <a:p>
            <a:pPr lvl="0"/>
            <a:r>
              <a:rPr lang="en-US" b="1" dirty="0"/>
              <a:t>End Product: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A working simulation framework for Optical Burst Switching (OBS) built on OMNeT++ 6.2.</a:t>
            </a:r>
            <a:endParaRPr lang="en-US" sz="1600" dirty="0"/>
          </a:p>
          <a:p>
            <a:pPr lvl="0"/>
            <a:r>
              <a:rPr lang="en-US" b="1" dirty="0"/>
              <a:t>Deliverables:</a:t>
            </a:r>
            <a:endParaRPr lang="en-US" sz="1600" dirty="0"/>
          </a:p>
          <a:p>
            <a:pPr lvl="1"/>
            <a:r>
              <a:rPr lang="en-US" dirty="0"/>
              <a:t>Software tool to test and analyze OBS performance.</a:t>
            </a:r>
            <a:endParaRPr lang="en-US" sz="1400" dirty="0"/>
          </a:p>
          <a:p>
            <a:pPr lvl="0"/>
            <a:r>
              <a:rPr lang="en-US" b="1" dirty="0" smtClean="0"/>
              <a:t>Impact</a:t>
            </a:r>
            <a:r>
              <a:rPr lang="en-US" b="1" dirty="0"/>
              <a:t>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Provides a practical platform for researchers and industry to explore and improve future high-speed network technologies.</a:t>
            </a:r>
            <a:endParaRPr lang="en-US" sz="1600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sz="1400" dirty="0">
                <a:solidFill>
                  <a:srgbClr val="FF0000"/>
                </a:solidFill>
              </a:rPr>
              <a:t>Slide # </a:t>
            </a:r>
            <a:fld id="{9451ABB8-0EF1-4B69-81B0-C2943902A61B}" type="slidenum">
              <a:rPr lang="x-none" sz="1400" smtClean="0">
                <a:solidFill>
                  <a:srgbClr val="FF0000"/>
                </a:solidFill>
              </a:rPr>
              <a:t>15</a:t>
            </a:fld>
            <a:r>
              <a:rPr lang="en-US" sz="1400" dirty="0">
                <a:solidFill>
                  <a:srgbClr val="FF0000"/>
                </a:solidFill>
              </a:rPr>
              <a:t> </a:t>
            </a:r>
            <a:endParaRPr lang="x-none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945371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1903</TotalTime>
  <Words>511</Words>
  <Application>Microsoft Office PowerPoint</Application>
  <PresentationFormat>Widescreen</PresentationFormat>
  <Paragraphs>121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Times New Roman</vt:lpstr>
      <vt:lpstr>Trebuchet MS</vt:lpstr>
      <vt:lpstr>Wingdings</vt:lpstr>
      <vt:lpstr>Wingdings 3</vt:lpstr>
      <vt:lpstr>Facet</vt:lpstr>
      <vt:lpstr>  Design and Analysis of An OMNeT++ based Simulation Framework for Optical Burst Switching   Project Proposal Defense</vt:lpstr>
      <vt:lpstr>Presentation Outline</vt:lpstr>
      <vt:lpstr>Introduction</vt:lpstr>
      <vt:lpstr>Optical Burst Switching</vt:lpstr>
      <vt:lpstr>Problem Statement</vt:lpstr>
      <vt:lpstr>Objectives</vt:lpstr>
      <vt:lpstr>Omnet++</vt:lpstr>
      <vt:lpstr>Core Files for Building a Network in OMNeT++</vt:lpstr>
      <vt:lpstr>Core Files for Building a Network in OMNeT++</vt:lpstr>
      <vt:lpstr>Core Files for Building a Network in OMNeT++</vt:lpstr>
      <vt:lpstr>Linkage of FYP with UN SDGs </vt:lpstr>
      <vt:lpstr>Mapping of FYP with 5 DCSE Courses </vt:lpstr>
      <vt:lpstr>Moral and Ethical Considerations</vt:lpstr>
      <vt:lpstr>Societal Impact  </vt:lpstr>
      <vt:lpstr>Expected Outcome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OF PRESENTATION  Initial Proposal Defense for PhD Studies</dc:title>
  <dc:creator>Salman Ahmed</dc:creator>
  <cp:lastModifiedBy>Mohsin Sajjad</cp:lastModifiedBy>
  <cp:revision>47</cp:revision>
  <dcterms:created xsi:type="dcterms:W3CDTF">2021-10-05T04:20:15Z</dcterms:created>
  <dcterms:modified xsi:type="dcterms:W3CDTF">2025-10-01T10:39:22Z</dcterms:modified>
</cp:coreProperties>
</file>